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0" y="0"/>
            <a:ext cx="3776472" cy="6858000"/>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412480" y="0"/>
            <a:ext cx="3776472" cy="7315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57200"/>
            <a:ext cx="2468880" cy="2468880"/>
          </a:xfrm>
          <a:prstGeom prst="ellipse">
            <a:avLst/>
          </a:prstGeom>
          <a:noFill/>
          <a:ln w="12700">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418320" y="822960"/>
            <a:ext cx="1737360" cy="1737360"/>
          </a:xfrm>
          <a:prstGeom prst="ellipse">
            <a:avLst/>
          </a:prstGeom>
          <a:noFill/>
          <a:ln w="1270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738360" y="1143000"/>
            <a:ext cx="1097280" cy="1097280"/>
          </a:xfrm>
          <a:prstGeom prst="ellipse">
            <a:avLst/>
          </a:prstGeom>
          <a:solidFill>
            <a:srgbClr val="1A1C17"/>
          </a:solidFill>
          <a:ln w="190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1261872"/>
            <a:ext cx="822960" cy="822960"/>
          </a:xfrm>
          <a:prstGeom prst="rect">
            <a:avLst/>
          </a:prstGeom>
          <a:noFill/>
        </p:spPr>
        <p:txBody>
          <a:bodyPr wrap="square">
            <a:spAutoFit/>
          </a:bodyPr>
          <a:lstStyle/>
          <a:p>
            <a:pPr algn="ctr"/>
            <a:r>
              <a:rPr sz="3000" b="0" i="0">
                <a:solidFill>
                  <a:srgbClr val="EAE6DE"/>
                </a:solidFill>
                <a:latin typeface="Calibri"/>
              </a:rPr>
              <a:t>🏥</a:t>
            </a:r>
          </a:p>
        </p:txBody>
      </p:sp>
      <p:sp>
        <p:nvSpPr>
          <p:cNvPr id="10" name="Rectangle 9"/>
          <p:cNvSpPr/>
          <p:nvPr/>
        </p:nvSpPr>
        <p:spPr>
          <a:xfrm>
            <a:off x="8595360" y="2926080"/>
            <a:ext cx="3383280" cy="914400"/>
          </a:xfrm>
          <a:prstGeom prst="rect">
            <a:avLst/>
          </a:prstGeom>
          <a:solidFill>
            <a:srgbClr val="202318"/>
          </a:solidFill>
          <a:ln w="762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32520" y="2980944"/>
            <a:ext cx="3108960" cy="457200"/>
          </a:xfrm>
          <a:prstGeom prst="rect">
            <a:avLst/>
          </a:prstGeom>
          <a:noFill/>
        </p:spPr>
        <p:txBody>
          <a:bodyPr wrap="square">
            <a:spAutoFit/>
          </a:bodyPr>
          <a:lstStyle/>
          <a:p>
            <a:pPr algn="l"/>
            <a:r>
              <a:rPr sz="2600" b="1" i="0">
                <a:solidFill>
                  <a:srgbClr val="C4A45A"/>
                </a:solidFill>
                <a:latin typeface="Georgia"/>
              </a:rPr>
              <a:t>£600+</a:t>
            </a:r>
          </a:p>
        </p:txBody>
      </p:sp>
      <p:sp>
        <p:nvSpPr>
          <p:cNvPr id="12" name="TextBox 11"/>
          <p:cNvSpPr txBox="1"/>
          <p:nvPr/>
        </p:nvSpPr>
        <p:spPr>
          <a:xfrm>
            <a:off x="8732520" y="3438144"/>
            <a:ext cx="3108960" cy="329184"/>
          </a:xfrm>
          <a:prstGeom prst="rect">
            <a:avLst/>
          </a:prstGeom>
          <a:noFill/>
        </p:spPr>
        <p:txBody>
          <a:bodyPr wrap="square">
            <a:spAutoFit/>
          </a:bodyPr>
          <a:lstStyle/>
          <a:p>
            <a:pPr algn="l"/>
            <a:r>
              <a:rPr sz="1000" b="0" i="0">
                <a:solidFill>
                  <a:srgbClr val="8A877F"/>
                </a:solidFill>
                <a:latin typeface="Calibri"/>
              </a:rPr>
              <a:t>Avg treatment value</a:t>
            </a:r>
          </a:p>
        </p:txBody>
      </p:sp>
      <p:sp>
        <p:nvSpPr>
          <p:cNvPr id="13" name="Rectangle 12"/>
          <p:cNvSpPr/>
          <p:nvPr/>
        </p:nvSpPr>
        <p:spPr>
          <a:xfrm>
            <a:off x="8595360" y="4005072"/>
            <a:ext cx="3383280" cy="914400"/>
          </a:xfrm>
          <a:prstGeom prst="rect">
            <a:avLst/>
          </a:prstGeom>
          <a:solidFill>
            <a:srgbClr val="202318"/>
          </a:solidFill>
          <a:ln w="762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4059935"/>
            <a:ext cx="3108960" cy="457200"/>
          </a:xfrm>
          <a:prstGeom prst="rect">
            <a:avLst/>
          </a:prstGeom>
          <a:noFill/>
        </p:spPr>
        <p:txBody>
          <a:bodyPr wrap="square">
            <a:spAutoFit/>
          </a:bodyPr>
          <a:lstStyle/>
          <a:p>
            <a:pPr algn="l"/>
            <a:r>
              <a:rPr sz="2600" b="1" i="0">
                <a:solidFill>
                  <a:srgbClr val="C4A45A"/>
                </a:solidFill>
                <a:latin typeface="Georgia"/>
              </a:rPr>
              <a:t>20 yrs</a:t>
            </a:r>
          </a:p>
        </p:txBody>
      </p:sp>
      <p:sp>
        <p:nvSpPr>
          <p:cNvPr id="15" name="TextBox 14"/>
          <p:cNvSpPr txBox="1"/>
          <p:nvPr/>
        </p:nvSpPr>
        <p:spPr>
          <a:xfrm>
            <a:off x="8732520" y="4517136"/>
            <a:ext cx="3108960" cy="329184"/>
          </a:xfrm>
          <a:prstGeom prst="rect">
            <a:avLst/>
          </a:prstGeom>
          <a:noFill/>
        </p:spPr>
        <p:txBody>
          <a:bodyPr wrap="square">
            <a:spAutoFit/>
          </a:bodyPr>
          <a:lstStyle/>
          <a:p>
            <a:pPr algn="l"/>
            <a:r>
              <a:rPr sz="1000" b="0" i="0">
                <a:solidFill>
                  <a:srgbClr val="8A877F"/>
                </a:solidFill>
                <a:latin typeface="Calibri"/>
              </a:rPr>
              <a:t>Established practice</a:t>
            </a:r>
          </a:p>
        </p:txBody>
      </p:sp>
      <p:sp>
        <p:nvSpPr>
          <p:cNvPr id="16" name="Rectangle 15"/>
          <p:cNvSpPr/>
          <p:nvPr/>
        </p:nvSpPr>
        <p:spPr>
          <a:xfrm>
            <a:off x="8595360" y="5084064"/>
            <a:ext cx="3383280" cy="914400"/>
          </a:xfrm>
          <a:prstGeom prst="rect">
            <a:avLst/>
          </a:prstGeom>
          <a:solidFill>
            <a:srgbClr val="202318"/>
          </a:solidFill>
          <a:ln w="762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32520" y="5138928"/>
            <a:ext cx="3108960" cy="457200"/>
          </a:xfrm>
          <a:prstGeom prst="rect">
            <a:avLst/>
          </a:prstGeom>
          <a:noFill/>
        </p:spPr>
        <p:txBody>
          <a:bodyPr wrap="square">
            <a:spAutoFit/>
          </a:bodyPr>
          <a:lstStyle/>
          <a:p>
            <a:pPr algn="l"/>
            <a:r>
              <a:rPr sz="2600" b="1" i="0">
                <a:solidFill>
                  <a:srgbClr val="C4A45A"/>
                </a:solidFill>
                <a:latin typeface="Georgia"/>
              </a:rPr>
              <a:t>24/7</a:t>
            </a:r>
          </a:p>
        </p:txBody>
      </p:sp>
      <p:sp>
        <p:nvSpPr>
          <p:cNvPr id="18" name="TextBox 17"/>
          <p:cNvSpPr txBox="1"/>
          <p:nvPr/>
        </p:nvSpPr>
        <p:spPr>
          <a:xfrm>
            <a:off x="8732520" y="5596128"/>
            <a:ext cx="3108960" cy="329184"/>
          </a:xfrm>
          <a:prstGeom prst="rect">
            <a:avLst/>
          </a:prstGeom>
          <a:noFill/>
        </p:spPr>
        <p:txBody>
          <a:bodyPr wrap="square">
            <a:spAutoFit/>
          </a:bodyPr>
          <a:lstStyle/>
          <a:p>
            <a:pPr algn="l"/>
            <a:r>
              <a:rPr sz="1000" b="0" i="0">
                <a:solidFill>
                  <a:srgbClr val="8A877F"/>
                </a:solidFill>
                <a:latin typeface="Calibri"/>
              </a:rPr>
              <a:t>Ava availability</a:t>
            </a:r>
          </a:p>
        </p:txBody>
      </p:sp>
      <p:sp>
        <p:nvSpPr>
          <p:cNvPr id="19" name="TextBox 18"/>
          <p:cNvSpPr txBox="1"/>
          <p:nvPr/>
        </p:nvSpPr>
        <p:spPr>
          <a:xfrm>
            <a:off x="502920" y="502920"/>
            <a:ext cx="7589520" cy="347472"/>
          </a:xfrm>
          <a:prstGeom prst="rect">
            <a:avLst/>
          </a:prstGeom>
          <a:noFill/>
        </p:spPr>
        <p:txBody>
          <a:bodyPr wrap="square">
            <a:spAutoFit/>
          </a:bodyPr>
          <a:lstStyle/>
          <a:p>
            <a:pPr algn="l"/>
            <a:r>
              <a:rPr sz="1000" b="1" i="0">
                <a:solidFill>
                  <a:srgbClr val="C4A45A"/>
                </a:solidFill>
                <a:latin typeface="Calibri"/>
              </a:rPr>
              <a:t>A   P R O P O S A L   F O R</a:t>
            </a:r>
          </a:p>
        </p:txBody>
      </p:sp>
      <p:sp>
        <p:nvSpPr>
          <p:cNvPr id="20" name="TextBox 19"/>
          <p:cNvSpPr txBox="1"/>
          <p:nvPr/>
        </p:nvSpPr>
        <p:spPr>
          <a:xfrm>
            <a:off x="502920" y="896112"/>
            <a:ext cx="7589520" cy="1737360"/>
          </a:xfrm>
          <a:prstGeom prst="rect">
            <a:avLst/>
          </a:prstGeom>
          <a:noFill/>
        </p:spPr>
        <p:txBody>
          <a:bodyPr wrap="square">
            <a:spAutoFit/>
          </a:bodyPr>
          <a:lstStyle/>
          <a:p>
            <a:pPr algn="l"/>
            <a:r>
              <a:rPr sz="10800" b="1" i="1">
                <a:solidFill>
                  <a:srgbClr val="FFFFFF"/>
                </a:solidFill>
                <a:latin typeface="Georgia"/>
              </a:rPr>
              <a:t>Ava</a:t>
            </a:r>
          </a:p>
        </p:txBody>
      </p:sp>
      <p:sp>
        <p:nvSpPr>
          <p:cNvPr id="21" name="TextBox 20"/>
          <p:cNvSpPr txBox="1"/>
          <p:nvPr/>
        </p:nvSpPr>
        <p:spPr>
          <a:xfrm>
            <a:off x="502920" y="2697480"/>
            <a:ext cx="7589520" cy="914400"/>
          </a:xfrm>
          <a:prstGeom prst="rect">
            <a:avLst/>
          </a:prstGeom>
          <a:noFill/>
        </p:spPr>
        <p:txBody>
          <a:bodyPr wrap="square">
            <a:spAutoFit/>
          </a:bodyPr>
          <a:lstStyle/>
          <a:p>
            <a:pPr algn="l"/>
            <a:r>
              <a:rPr sz="2200" b="0" i="0">
                <a:solidFill>
                  <a:srgbClr val="A8C9AC"/>
                </a:solidFill>
                <a:latin typeface="Georgia"/>
              </a:rPr>
              <a:t>Intelligent Aesthetics Concierge</a:t>
            </a:r>
          </a:p>
          <a:p>
            <a:pPr algn="l"/>
            <a:r>
              <a:rPr sz="2000" b="0" i="0">
                <a:solidFill>
                  <a:srgbClr val="8A877F"/>
                </a:solidFill>
                <a:latin typeface="Georgia"/>
              </a:rPr>
              <a:t>The London Dermatology Centre</a:t>
            </a:r>
          </a:p>
        </p:txBody>
      </p:sp>
      <p:sp>
        <p:nvSpPr>
          <p:cNvPr id="22" name="TextBox 21"/>
          <p:cNvSpPr txBox="1"/>
          <p:nvPr/>
        </p:nvSpPr>
        <p:spPr>
          <a:xfrm>
            <a:off x="502920" y="3794760"/>
            <a:ext cx="7589520" cy="1005840"/>
          </a:xfrm>
          <a:prstGeom prst="rect">
            <a:avLst/>
          </a:prstGeom>
          <a:noFill/>
        </p:spPr>
        <p:txBody>
          <a:bodyPr wrap="square">
            <a:spAutoFit/>
          </a:bodyPr>
          <a:lstStyle/>
          <a:p>
            <a:pPr algn="l"/>
            <a:r>
              <a:rPr sz="1400" b="0" i="0">
                <a:solidFill>
                  <a:srgbClr val="8A877F"/>
                </a:solidFill>
                <a:latin typeface="Calibri"/>
              </a:rPr>
              <a:t>An always-on AI receptionist that captures and converts your aesthetics enquiries into booked consultations — 24 hours a day, 7 days a week, even when your clinic is closed.</a:t>
            </a:r>
          </a:p>
        </p:txBody>
      </p:sp>
      <p:sp>
        <p:nvSpPr>
          <p:cNvPr id="23" name="Rectangle 22"/>
          <p:cNvSpPr/>
          <p:nvPr/>
        </p:nvSpPr>
        <p:spPr>
          <a:xfrm>
            <a:off x="0" y="6565392"/>
            <a:ext cx="12188952" cy="292608"/>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583680"/>
            <a:ext cx="11640312" cy="256032"/>
          </a:xfrm>
          <a:prstGeom prst="rect">
            <a:avLst/>
          </a:prstGeom>
          <a:noFill/>
        </p:spPr>
        <p:txBody>
          <a:bodyPr wrap="square">
            <a:spAutoFit/>
          </a:bodyPr>
          <a:lstStyle/>
          <a:p>
            <a:pPr algn="ctr"/>
            <a:r>
              <a:rPr sz="900" b="0" i="0">
                <a:solidFill>
                  <a:srgbClr val="484540"/>
                </a:solidFill>
                <a:latin typeface="Calibri"/>
              </a:rPr>
              <a:t>69 Wimpole St, London W1G 8AS  ·  Confidential  ·  Prepared exclusively for The London Dermatology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347472"/>
          </a:xfrm>
          <a:prstGeom prst="rect">
            <a:avLst/>
          </a:prstGeom>
          <a:noFill/>
        </p:spPr>
        <p:txBody>
          <a:bodyPr wrap="square">
            <a:spAutoFit/>
          </a:bodyPr>
          <a:lstStyle/>
          <a:p>
            <a:pPr algn="l"/>
            <a:r>
              <a:rPr sz="1100" b="1" i="0">
                <a:solidFill>
                  <a:srgbClr val="C4A45A"/>
                </a:solidFill>
                <a:latin typeface="Calibri"/>
              </a:rPr>
              <a:t>T H E   O P P O R T U N I T Y</a:t>
            </a:r>
          </a:p>
        </p:txBody>
      </p:sp>
      <p:sp>
        <p:nvSpPr>
          <p:cNvPr id="5" name="TextBox 4"/>
          <p:cNvSpPr txBox="1"/>
          <p:nvPr/>
        </p:nvSpPr>
        <p:spPr>
          <a:xfrm>
            <a:off x="502920" y="621792"/>
            <a:ext cx="10789920" cy="1325880"/>
          </a:xfrm>
          <a:prstGeom prst="rect">
            <a:avLst/>
          </a:prstGeom>
          <a:noFill/>
        </p:spPr>
        <p:txBody>
          <a:bodyPr wrap="square">
            <a:spAutoFit/>
          </a:bodyPr>
          <a:lstStyle/>
          <a:p>
            <a:pPr algn="l"/>
            <a:r>
              <a:rPr sz="3000" b="1" i="0">
                <a:solidFill>
                  <a:srgbClr val="FFFFFF"/>
                </a:solidFill>
                <a:latin typeface="Georgia"/>
              </a:rPr>
              <a:t>Aesthetics enquiries are slipping through the gaps</a:t>
            </a:r>
          </a:p>
        </p:txBody>
      </p:sp>
      <p:sp>
        <p:nvSpPr>
          <p:cNvPr id="6" name="TextBox 5"/>
          <p:cNvSpPr txBox="1"/>
          <p:nvPr/>
        </p:nvSpPr>
        <p:spPr>
          <a:xfrm>
            <a:off x="502920" y="2029968"/>
            <a:ext cx="11183112" cy="658368"/>
          </a:xfrm>
          <a:prstGeom prst="rect">
            <a:avLst/>
          </a:prstGeom>
          <a:noFill/>
        </p:spPr>
        <p:txBody>
          <a:bodyPr wrap="square">
            <a:spAutoFit/>
          </a:bodyPr>
          <a:lstStyle/>
          <a:p>
            <a:pPr algn="l"/>
            <a:r>
              <a:rPr sz="1300" b="0" i="0">
                <a:solidFill>
                  <a:srgbClr val="A8C9AC"/>
                </a:solidFill>
                <a:latin typeface="Calibri"/>
              </a:rPr>
              <a:t>LDC is a CQC-registered, 20-year-established practice with GMC consultants and a distinguished clientele. Your clinical pipeline is strong. The untapped opportunity is in aesthetics — high-value, self-pay, ad-driven enquiries arriving outside your opening hours.</a:t>
            </a:r>
          </a:p>
        </p:txBody>
      </p:sp>
      <p:sp>
        <p:nvSpPr>
          <p:cNvPr id="7" name="Rectangle 6"/>
          <p:cNvSpPr/>
          <p:nvPr/>
        </p:nvSpPr>
        <p:spPr>
          <a:xfrm>
            <a:off x="411480" y="2816352"/>
            <a:ext cx="5577840" cy="1828800"/>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2816352"/>
            <a:ext cx="54864" cy="1828800"/>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2980944"/>
            <a:ext cx="594360" cy="594360"/>
          </a:xfrm>
          <a:prstGeom prst="rect">
            <a:avLst/>
          </a:prstGeom>
          <a:noFill/>
        </p:spPr>
        <p:txBody>
          <a:bodyPr wrap="square">
            <a:spAutoFit/>
          </a:bodyPr>
          <a:lstStyle/>
          <a:p>
            <a:pPr algn="ctr"/>
            <a:r>
              <a:rPr sz="2200" b="0" i="0">
                <a:solidFill>
                  <a:srgbClr val="EAE6DE"/>
                </a:solidFill>
                <a:latin typeface="Calibri"/>
              </a:rPr>
              <a:t>🌙</a:t>
            </a:r>
          </a:p>
        </p:txBody>
      </p:sp>
      <p:sp>
        <p:nvSpPr>
          <p:cNvPr id="10" name="TextBox 9"/>
          <p:cNvSpPr txBox="1"/>
          <p:nvPr/>
        </p:nvSpPr>
        <p:spPr>
          <a:xfrm>
            <a:off x="1234440" y="2944368"/>
            <a:ext cx="4526280" cy="411480"/>
          </a:xfrm>
          <a:prstGeom prst="rect">
            <a:avLst/>
          </a:prstGeom>
          <a:noFill/>
        </p:spPr>
        <p:txBody>
          <a:bodyPr wrap="square">
            <a:spAutoFit/>
          </a:bodyPr>
          <a:lstStyle/>
          <a:p>
            <a:pPr algn="l"/>
            <a:r>
              <a:rPr sz="1400" b="1" i="0">
                <a:solidFill>
                  <a:srgbClr val="EAE6DE"/>
                </a:solidFill>
                <a:latin typeface="Calibri"/>
              </a:rPr>
              <a:t>Out-of-hours enquiries lost</a:t>
            </a:r>
          </a:p>
        </p:txBody>
      </p:sp>
      <p:sp>
        <p:nvSpPr>
          <p:cNvPr id="11" name="TextBox 10"/>
          <p:cNvSpPr txBox="1"/>
          <p:nvPr/>
        </p:nvSpPr>
        <p:spPr>
          <a:xfrm>
            <a:off x="576072" y="3474720"/>
            <a:ext cx="5230368" cy="1005840"/>
          </a:xfrm>
          <a:prstGeom prst="rect">
            <a:avLst/>
          </a:prstGeom>
          <a:noFill/>
        </p:spPr>
        <p:txBody>
          <a:bodyPr wrap="square">
            <a:spAutoFit/>
          </a:bodyPr>
          <a:lstStyle/>
          <a:p>
            <a:pPr algn="l"/>
            <a:r>
              <a:rPr sz="1100" b="0" i="0">
                <a:solidFill>
                  <a:srgbClr val="8A877F"/>
                </a:solidFill>
                <a:latin typeface="Calibri"/>
              </a:rPr>
              <a:t>You're closed weekends and most evenings. A patient browsing Instagram on a Sunday night who enquires about Fraxel or Botox gets no response until Monday — by which time they've booked elsewhere.</a:t>
            </a:r>
          </a:p>
        </p:txBody>
      </p:sp>
      <p:sp>
        <p:nvSpPr>
          <p:cNvPr id="12" name="Rectangle 11"/>
          <p:cNvSpPr/>
          <p:nvPr/>
        </p:nvSpPr>
        <p:spPr>
          <a:xfrm>
            <a:off x="6291072" y="2816352"/>
            <a:ext cx="5577840" cy="1828800"/>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2816352"/>
            <a:ext cx="54864" cy="1828800"/>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980944"/>
            <a:ext cx="594360" cy="594360"/>
          </a:xfrm>
          <a:prstGeom prst="rect">
            <a:avLst/>
          </a:prstGeom>
          <a:noFill/>
        </p:spPr>
        <p:txBody>
          <a:bodyPr wrap="square">
            <a:spAutoFit/>
          </a:bodyPr>
          <a:lstStyle/>
          <a:p>
            <a:pPr algn="ctr"/>
            <a:r>
              <a:rPr sz="2200" b="0" i="0">
                <a:solidFill>
                  <a:srgbClr val="EAE6DE"/>
                </a:solidFill>
                <a:latin typeface="Calibri"/>
              </a:rPr>
              <a:t>📋</a:t>
            </a:r>
          </a:p>
        </p:txBody>
      </p:sp>
      <p:sp>
        <p:nvSpPr>
          <p:cNvPr id="15" name="TextBox 14"/>
          <p:cNvSpPr txBox="1"/>
          <p:nvPr/>
        </p:nvSpPr>
        <p:spPr>
          <a:xfrm>
            <a:off x="7114032" y="2944368"/>
            <a:ext cx="4526280" cy="411480"/>
          </a:xfrm>
          <a:prstGeom prst="rect">
            <a:avLst/>
          </a:prstGeom>
          <a:noFill/>
        </p:spPr>
        <p:txBody>
          <a:bodyPr wrap="square">
            <a:spAutoFit/>
          </a:bodyPr>
          <a:lstStyle/>
          <a:p>
            <a:pPr algn="l"/>
            <a:r>
              <a:rPr sz="1400" b="1" i="0">
                <a:solidFill>
                  <a:srgbClr val="EAE6DE"/>
                </a:solidFill>
                <a:latin typeface="Calibri"/>
              </a:rPr>
              <a:t>Reception focused on clinical work</a:t>
            </a:r>
          </a:p>
        </p:txBody>
      </p:sp>
      <p:sp>
        <p:nvSpPr>
          <p:cNvPr id="16" name="TextBox 15"/>
          <p:cNvSpPr txBox="1"/>
          <p:nvPr/>
        </p:nvSpPr>
        <p:spPr>
          <a:xfrm>
            <a:off x="6455664" y="3474720"/>
            <a:ext cx="5230368" cy="1005840"/>
          </a:xfrm>
          <a:prstGeom prst="rect">
            <a:avLst/>
          </a:prstGeom>
          <a:noFill/>
        </p:spPr>
        <p:txBody>
          <a:bodyPr wrap="square">
            <a:spAutoFit/>
          </a:bodyPr>
          <a:lstStyle/>
          <a:p>
            <a:pPr algn="l"/>
            <a:r>
              <a:rPr sz="1100" b="0" i="0">
                <a:solidFill>
                  <a:srgbClr val="8A877F"/>
                </a:solidFill>
                <a:latin typeface="Calibri"/>
              </a:rPr>
              <a:t>Your reception team manages a complex, high-volume clinical practice. Following up aesthetics ad leads — checking in, answering FAQs, offering slots — is not what they're there for.</a:t>
            </a:r>
          </a:p>
        </p:txBody>
      </p:sp>
      <p:sp>
        <p:nvSpPr>
          <p:cNvPr id="17" name="Rectangle 16"/>
          <p:cNvSpPr/>
          <p:nvPr/>
        </p:nvSpPr>
        <p:spPr>
          <a:xfrm>
            <a:off x="411480" y="4773168"/>
            <a:ext cx="5577840" cy="1828800"/>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4773168"/>
            <a:ext cx="54864" cy="1828800"/>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 y="4937759"/>
            <a:ext cx="594360" cy="594360"/>
          </a:xfrm>
          <a:prstGeom prst="rect">
            <a:avLst/>
          </a:prstGeom>
          <a:noFill/>
        </p:spPr>
        <p:txBody>
          <a:bodyPr wrap="square">
            <a:spAutoFit/>
          </a:bodyPr>
          <a:lstStyle/>
          <a:p>
            <a:pPr algn="ctr"/>
            <a:r>
              <a:rPr sz="2200" b="0" i="0">
                <a:solidFill>
                  <a:srgbClr val="EAE6DE"/>
                </a:solidFill>
                <a:latin typeface="Calibri"/>
              </a:rPr>
              <a:t>💷</a:t>
            </a:r>
          </a:p>
        </p:txBody>
      </p:sp>
      <p:sp>
        <p:nvSpPr>
          <p:cNvPr id="20" name="TextBox 19"/>
          <p:cNvSpPr txBox="1"/>
          <p:nvPr/>
        </p:nvSpPr>
        <p:spPr>
          <a:xfrm>
            <a:off x="1234440" y="4901183"/>
            <a:ext cx="4526280" cy="411480"/>
          </a:xfrm>
          <a:prstGeom prst="rect">
            <a:avLst/>
          </a:prstGeom>
          <a:noFill/>
        </p:spPr>
        <p:txBody>
          <a:bodyPr wrap="square">
            <a:spAutoFit/>
          </a:bodyPr>
          <a:lstStyle/>
          <a:p>
            <a:pPr algn="l"/>
            <a:r>
              <a:rPr sz="1400" b="1" i="0">
                <a:solidFill>
                  <a:srgbClr val="EAE6DE"/>
                </a:solidFill>
                <a:latin typeface="Calibri"/>
              </a:rPr>
              <a:t>High-value treatments going unconverted</a:t>
            </a:r>
          </a:p>
        </p:txBody>
      </p:sp>
      <p:sp>
        <p:nvSpPr>
          <p:cNvPr id="21" name="TextBox 20"/>
          <p:cNvSpPr txBox="1"/>
          <p:nvPr/>
        </p:nvSpPr>
        <p:spPr>
          <a:xfrm>
            <a:off x="576072" y="5431536"/>
            <a:ext cx="5230368" cy="1005840"/>
          </a:xfrm>
          <a:prstGeom prst="rect">
            <a:avLst/>
          </a:prstGeom>
          <a:noFill/>
        </p:spPr>
        <p:txBody>
          <a:bodyPr wrap="square">
            <a:spAutoFit/>
          </a:bodyPr>
          <a:lstStyle/>
          <a:p>
            <a:pPr algn="l"/>
            <a:r>
              <a:rPr sz="1100" b="0" i="0">
                <a:solidFill>
                  <a:srgbClr val="8A877F"/>
                </a:solidFill>
                <a:latin typeface="Calibri"/>
              </a:rPr>
              <a:t>Aesthetics treatments at LDC range from £300 to £1,500+. A single missed conversion is a significant revenue loss. At volume, it compounds quickly.</a:t>
            </a:r>
          </a:p>
        </p:txBody>
      </p:sp>
      <p:sp>
        <p:nvSpPr>
          <p:cNvPr id="22" name="Rectangle 21"/>
          <p:cNvSpPr/>
          <p:nvPr/>
        </p:nvSpPr>
        <p:spPr>
          <a:xfrm>
            <a:off x="6291072" y="4773168"/>
            <a:ext cx="5577840" cy="1828800"/>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91072" y="4773168"/>
            <a:ext cx="54864" cy="1828800"/>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55664" y="4937759"/>
            <a:ext cx="594360" cy="594360"/>
          </a:xfrm>
          <a:prstGeom prst="rect">
            <a:avLst/>
          </a:prstGeom>
          <a:noFill/>
        </p:spPr>
        <p:txBody>
          <a:bodyPr wrap="square">
            <a:spAutoFit/>
          </a:bodyPr>
          <a:lstStyle/>
          <a:p>
            <a:pPr algn="ctr"/>
            <a:r>
              <a:rPr sz="2200" b="0" i="0">
                <a:solidFill>
                  <a:srgbClr val="EAE6DE"/>
                </a:solidFill>
                <a:latin typeface="Calibri"/>
              </a:rPr>
              <a:t>📊</a:t>
            </a:r>
          </a:p>
        </p:txBody>
      </p:sp>
      <p:sp>
        <p:nvSpPr>
          <p:cNvPr id="25" name="TextBox 24"/>
          <p:cNvSpPr txBox="1"/>
          <p:nvPr/>
        </p:nvSpPr>
        <p:spPr>
          <a:xfrm>
            <a:off x="7114032" y="4901183"/>
            <a:ext cx="4526280" cy="411480"/>
          </a:xfrm>
          <a:prstGeom prst="rect">
            <a:avLst/>
          </a:prstGeom>
          <a:noFill/>
        </p:spPr>
        <p:txBody>
          <a:bodyPr wrap="square">
            <a:spAutoFit/>
          </a:bodyPr>
          <a:lstStyle/>
          <a:p>
            <a:pPr algn="l"/>
            <a:r>
              <a:rPr sz="1400" b="1" i="0">
                <a:solidFill>
                  <a:srgbClr val="EAE6DE"/>
                </a:solidFill>
                <a:latin typeface="Calibri"/>
              </a:rPr>
              <a:t>No visibility on enquiry conversion</a:t>
            </a:r>
          </a:p>
        </p:txBody>
      </p:sp>
      <p:sp>
        <p:nvSpPr>
          <p:cNvPr id="26" name="TextBox 25"/>
          <p:cNvSpPr txBox="1"/>
          <p:nvPr/>
        </p:nvSpPr>
        <p:spPr>
          <a:xfrm>
            <a:off x="6455664" y="5431536"/>
            <a:ext cx="5230368" cy="1005840"/>
          </a:xfrm>
          <a:prstGeom prst="rect">
            <a:avLst/>
          </a:prstGeom>
          <a:noFill/>
        </p:spPr>
        <p:txBody>
          <a:bodyPr wrap="square">
            <a:spAutoFit/>
          </a:bodyPr>
          <a:lstStyle/>
          <a:p>
            <a:pPr algn="l"/>
            <a:r>
              <a:rPr sz="1100" b="0" i="0">
                <a:solidFill>
                  <a:srgbClr val="8A877F"/>
                </a:solidFill>
                <a:latin typeface="Calibri"/>
              </a:rPr>
              <a:t>Without a structured follow-up system, you have no data on how many aesthetics enquiries convert, which treatments drive the most interest, or where leads drop off.</a:t>
            </a:r>
          </a:p>
        </p:txBody>
      </p:sp>
      <p:sp>
        <p:nvSpPr>
          <p:cNvPr id="27" name="Rectangle 26"/>
          <p:cNvSpPr/>
          <p:nvPr/>
        </p:nvSpPr>
        <p:spPr>
          <a:xfrm>
            <a:off x="0" y="6565392"/>
            <a:ext cx="12188952" cy="292608"/>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6583680"/>
            <a:ext cx="11640312" cy="256032"/>
          </a:xfrm>
          <a:prstGeom prst="rect">
            <a:avLst/>
          </a:prstGeom>
          <a:noFill/>
        </p:spPr>
        <p:txBody>
          <a:bodyPr wrap="square">
            <a:spAutoFit/>
          </a:bodyPr>
          <a:lstStyle/>
          <a:p>
            <a:pPr algn="ctr"/>
            <a:r>
              <a:rPr sz="900" b="0" i="0">
                <a:solidFill>
                  <a:srgbClr val="8A877F"/>
                </a:solidFill>
                <a:latin typeface="Calibri"/>
              </a:rPr>
              <a:t>Ava closes every one of these gaps — automatically, warmly, and in line with your clinical standards.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315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347472"/>
          </a:xfrm>
          <a:prstGeom prst="rect">
            <a:avLst/>
          </a:prstGeom>
          <a:noFill/>
        </p:spPr>
        <p:txBody>
          <a:bodyPr wrap="square">
            <a:spAutoFit/>
          </a:bodyPr>
          <a:lstStyle/>
          <a:p>
            <a:pPr algn="l"/>
            <a:r>
              <a:rPr sz="1100" b="1" i="0">
                <a:solidFill>
                  <a:srgbClr val="6B9E72"/>
                </a:solidFill>
                <a:latin typeface="Calibri"/>
              </a:rPr>
              <a:t>T H E   S O L U T I O N</a:t>
            </a:r>
          </a:p>
        </p:txBody>
      </p:sp>
      <p:sp>
        <p:nvSpPr>
          <p:cNvPr id="5" name="TextBox 4"/>
          <p:cNvSpPr txBox="1"/>
          <p:nvPr/>
        </p:nvSpPr>
        <p:spPr>
          <a:xfrm>
            <a:off x="502920" y="621792"/>
            <a:ext cx="10789920" cy="914400"/>
          </a:xfrm>
          <a:prstGeom prst="rect">
            <a:avLst/>
          </a:prstGeom>
          <a:noFill/>
        </p:spPr>
        <p:txBody>
          <a:bodyPr wrap="square">
            <a:spAutoFit/>
          </a:bodyPr>
          <a:lstStyle/>
          <a:p>
            <a:pPr algn="l"/>
            <a:r>
              <a:rPr sz="3600" b="1" i="0">
                <a:solidFill>
                  <a:srgbClr val="FFFFFF"/>
                </a:solidFill>
                <a:latin typeface="Georgia"/>
              </a:rPr>
              <a:t>Meet Ava — your AI aesthetics concierge</a:t>
            </a:r>
          </a:p>
        </p:txBody>
      </p:sp>
      <p:sp>
        <p:nvSpPr>
          <p:cNvPr id="6" name="TextBox 5"/>
          <p:cNvSpPr txBox="1"/>
          <p:nvPr/>
        </p:nvSpPr>
        <p:spPr>
          <a:xfrm>
            <a:off x="502920" y="1572768"/>
            <a:ext cx="11183112" cy="822960"/>
          </a:xfrm>
          <a:prstGeom prst="rect">
            <a:avLst/>
          </a:prstGeom>
          <a:noFill/>
        </p:spPr>
        <p:txBody>
          <a:bodyPr wrap="square">
            <a:spAutoFit/>
          </a:bodyPr>
          <a:lstStyle/>
          <a:p>
            <a:pPr algn="l"/>
            <a:r>
              <a:rPr sz="1400" b="0" i="0">
                <a:solidFill>
                  <a:srgbClr val="A8C9AC"/>
                </a:solidFill>
                <a:latin typeface="Calibri"/>
              </a:rPr>
              <a:t>Ava is an AI voice and chat assistant trained specifically for The London Dermatology Centre. She speaks in warm, confident British English, knows your full aesthetics menu, your consultants, your location, and your pricing — and operates exactly as a senior Wimpole Street receptionist would.</a:t>
            </a:r>
          </a:p>
        </p:txBody>
      </p:sp>
      <p:sp>
        <p:nvSpPr>
          <p:cNvPr id="7" name="Oval 6"/>
          <p:cNvSpPr/>
          <p:nvPr/>
        </p:nvSpPr>
        <p:spPr>
          <a:xfrm>
            <a:off x="502920" y="2578608"/>
            <a:ext cx="1554480" cy="1554480"/>
          </a:xfrm>
          <a:prstGeom prst="ellipse">
            <a:avLst/>
          </a:prstGeom>
          <a:solidFill>
            <a:srgbClr val="1A1C17"/>
          </a:solidFill>
          <a:ln w="1270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852928"/>
            <a:ext cx="822960" cy="822960"/>
          </a:xfrm>
          <a:prstGeom prst="rect">
            <a:avLst/>
          </a:prstGeom>
          <a:noFill/>
        </p:spPr>
        <p:txBody>
          <a:bodyPr wrap="square">
            <a:spAutoFit/>
          </a:bodyPr>
          <a:lstStyle/>
          <a:p>
            <a:pPr algn="ctr"/>
            <a:r>
              <a:rPr sz="2800" b="0" i="0">
                <a:solidFill>
                  <a:srgbClr val="EAE6DE"/>
                </a:solidFill>
                <a:latin typeface="Calibri"/>
              </a:rPr>
              <a:t>📞</a:t>
            </a:r>
          </a:p>
        </p:txBody>
      </p:sp>
      <p:sp>
        <p:nvSpPr>
          <p:cNvPr id="9" name="TextBox 8"/>
          <p:cNvSpPr txBox="1"/>
          <p:nvPr/>
        </p:nvSpPr>
        <p:spPr>
          <a:xfrm>
            <a:off x="411480" y="4251960"/>
            <a:ext cx="1737360" cy="594360"/>
          </a:xfrm>
          <a:prstGeom prst="rect">
            <a:avLst/>
          </a:prstGeom>
          <a:noFill/>
        </p:spPr>
        <p:txBody>
          <a:bodyPr wrap="square">
            <a:spAutoFit/>
          </a:bodyPr>
          <a:lstStyle/>
          <a:p>
            <a:pPr algn="ctr"/>
            <a:r>
              <a:rPr sz="1050" b="0" i="0">
                <a:solidFill>
                  <a:srgbClr val="8A877F"/>
                </a:solidFill>
                <a:latin typeface="Calibri"/>
              </a:rPr>
              <a:t>Calls enquiries
within seconds</a:t>
            </a:r>
          </a:p>
        </p:txBody>
      </p:sp>
      <p:sp>
        <p:nvSpPr>
          <p:cNvPr id="10" name="Oval 9"/>
          <p:cNvSpPr/>
          <p:nvPr/>
        </p:nvSpPr>
        <p:spPr>
          <a:xfrm>
            <a:off x="2788920" y="2578608"/>
            <a:ext cx="1554480" cy="1554480"/>
          </a:xfrm>
          <a:prstGeom prst="ellipse">
            <a:avLst/>
          </a:prstGeom>
          <a:solidFill>
            <a:srgbClr val="1A1C17"/>
          </a:solidFill>
          <a:ln w="1270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79" y="2852928"/>
            <a:ext cx="822960" cy="822960"/>
          </a:xfrm>
          <a:prstGeom prst="rect">
            <a:avLst/>
          </a:prstGeom>
          <a:noFill/>
        </p:spPr>
        <p:txBody>
          <a:bodyPr wrap="square">
            <a:spAutoFit/>
          </a:bodyPr>
          <a:lstStyle/>
          <a:p>
            <a:pPr algn="ctr"/>
            <a:r>
              <a:rPr sz="2800" b="0" i="0">
                <a:solidFill>
                  <a:srgbClr val="EAE6DE"/>
                </a:solidFill>
                <a:latin typeface="Calibri"/>
              </a:rPr>
              <a:t>📅</a:t>
            </a:r>
          </a:p>
        </p:txBody>
      </p:sp>
      <p:sp>
        <p:nvSpPr>
          <p:cNvPr id="12" name="TextBox 11"/>
          <p:cNvSpPr txBox="1"/>
          <p:nvPr/>
        </p:nvSpPr>
        <p:spPr>
          <a:xfrm>
            <a:off x="2697479" y="4251960"/>
            <a:ext cx="1737360" cy="594360"/>
          </a:xfrm>
          <a:prstGeom prst="rect">
            <a:avLst/>
          </a:prstGeom>
          <a:noFill/>
        </p:spPr>
        <p:txBody>
          <a:bodyPr wrap="square">
            <a:spAutoFit/>
          </a:bodyPr>
          <a:lstStyle/>
          <a:p>
            <a:pPr algn="ctr"/>
            <a:r>
              <a:rPr sz="1050" b="0" i="0">
                <a:solidFill>
                  <a:srgbClr val="8A877F"/>
                </a:solidFill>
                <a:latin typeface="Calibri"/>
              </a:rPr>
              <a:t>Books into your
Semble calendar</a:t>
            </a:r>
          </a:p>
        </p:txBody>
      </p:sp>
      <p:sp>
        <p:nvSpPr>
          <p:cNvPr id="13" name="Oval 12"/>
          <p:cNvSpPr/>
          <p:nvPr/>
        </p:nvSpPr>
        <p:spPr>
          <a:xfrm>
            <a:off x="5074920" y="2578608"/>
            <a:ext cx="1554480" cy="1554480"/>
          </a:xfrm>
          <a:prstGeom prst="ellipse">
            <a:avLst/>
          </a:prstGeom>
          <a:solidFill>
            <a:srgbClr val="1A1C17"/>
          </a:solidFill>
          <a:ln w="1270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2852928"/>
            <a:ext cx="822960" cy="822960"/>
          </a:xfrm>
          <a:prstGeom prst="rect">
            <a:avLst/>
          </a:prstGeom>
          <a:noFill/>
        </p:spPr>
        <p:txBody>
          <a:bodyPr wrap="square">
            <a:spAutoFit/>
          </a:bodyPr>
          <a:lstStyle/>
          <a:p>
            <a:pPr algn="ctr"/>
            <a:r>
              <a:rPr sz="2800" b="0" i="0">
                <a:solidFill>
                  <a:srgbClr val="EAE6DE"/>
                </a:solidFill>
                <a:latin typeface="Calibri"/>
              </a:rPr>
              <a:t>🔒</a:t>
            </a:r>
          </a:p>
        </p:txBody>
      </p:sp>
      <p:sp>
        <p:nvSpPr>
          <p:cNvPr id="15" name="TextBox 14"/>
          <p:cNvSpPr txBox="1"/>
          <p:nvPr/>
        </p:nvSpPr>
        <p:spPr>
          <a:xfrm>
            <a:off x="4983480" y="4251960"/>
            <a:ext cx="1737360" cy="594360"/>
          </a:xfrm>
          <a:prstGeom prst="rect">
            <a:avLst/>
          </a:prstGeom>
          <a:noFill/>
        </p:spPr>
        <p:txBody>
          <a:bodyPr wrap="square">
            <a:spAutoFit/>
          </a:bodyPr>
          <a:lstStyle/>
          <a:p>
            <a:pPr algn="ctr"/>
            <a:r>
              <a:rPr sz="1050" b="0" i="0">
                <a:solidFill>
                  <a:srgbClr val="8A877F"/>
                </a:solidFill>
                <a:latin typeface="Calibri"/>
              </a:rPr>
              <a:t>Opens every call
with confidentiality</a:t>
            </a:r>
          </a:p>
        </p:txBody>
      </p:sp>
      <p:sp>
        <p:nvSpPr>
          <p:cNvPr id="16" name="Oval 15"/>
          <p:cNvSpPr/>
          <p:nvPr/>
        </p:nvSpPr>
        <p:spPr>
          <a:xfrm>
            <a:off x="7360920" y="2578608"/>
            <a:ext cx="1554480" cy="1554480"/>
          </a:xfrm>
          <a:prstGeom prst="ellipse">
            <a:avLst/>
          </a:prstGeom>
          <a:solidFill>
            <a:srgbClr val="1A1C17"/>
          </a:solidFill>
          <a:ln w="1270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80" y="2852928"/>
            <a:ext cx="822960" cy="822960"/>
          </a:xfrm>
          <a:prstGeom prst="rect">
            <a:avLst/>
          </a:prstGeom>
          <a:noFill/>
        </p:spPr>
        <p:txBody>
          <a:bodyPr wrap="square">
            <a:spAutoFit/>
          </a:bodyPr>
          <a:lstStyle/>
          <a:p>
            <a:pPr algn="ctr"/>
            <a:r>
              <a:rPr sz="2800" b="0" i="0">
                <a:solidFill>
                  <a:srgbClr val="EAE6DE"/>
                </a:solidFill>
                <a:latin typeface="Calibri"/>
              </a:rPr>
              <a:t>⚡</a:t>
            </a:r>
          </a:p>
        </p:txBody>
      </p:sp>
      <p:sp>
        <p:nvSpPr>
          <p:cNvPr id="18" name="TextBox 17"/>
          <p:cNvSpPr txBox="1"/>
          <p:nvPr/>
        </p:nvSpPr>
        <p:spPr>
          <a:xfrm>
            <a:off x="7269480" y="4251960"/>
            <a:ext cx="1737360" cy="594360"/>
          </a:xfrm>
          <a:prstGeom prst="rect">
            <a:avLst/>
          </a:prstGeom>
          <a:noFill/>
        </p:spPr>
        <p:txBody>
          <a:bodyPr wrap="square">
            <a:spAutoFit/>
          </a:bodyPr>
          <a:lstStyle/>
          <a:p>
            <a:pPr algn="ctr"/>
            <a:r>
              <a:rPr sz="1050" b="0" i="0">
                <a:solidFill>
                  <a:srgbClr val="8A877F"/>
                </a:solidFill>
                <a:latin typeface="Calibri"/>
              </a:rPr>
              <a:t>Runs 24/7 —
weekends included</a:t>
            </a:r>
          </a:p>
        </p:txBody>
      </p:sp>
      <p:sp>
        <p:nvSpPr>
          <p:cNvPr id="19" name="Oval 18"/>
          <p:cNvSpPr/>
          <p:nvPr/>
        </p:nvSpPr>
        <p:spPr>
          <a:xfrm>
            <a:off x="9646920" y="2578608"/>
            <a:ext cx="1554480" cy="1554480"/>
          </a:xfrm>
          <a:prstGeom prst="ellipse">
            <a:avLst/>
          </a:prstGeom>
          <a:solidFill>
            <a:srgbClr val="1A1C17"/>
          </a:solidFill>
          <a:ln w="1270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12680" y="2852928"/>
            <a:ext cx="822960" cy="822960"/>
          </a:xfrm>
          <a:prstGeom prst="rect">
            <a:avLst/>
          </a:prstGeom>
          <a:noFill/>
        </p:spPr>
        <p:txBody>
          <a:bodyPr wrap="square">
            <a:spAutoFit/>
          </a:bodyPr>
          <a:lstStyle/>
          <a:p>
            <a:pPr algn="ctr"/>
            <a:r>
              <a:rPr sz="2800" b="0" i="0">
                <a:solidFill>
                  <a:srgbClr val="EAE6DE"/>
                </a:solidFill>
                <a:latin typeface="Calibri"/>
              </a:rPr>
              <a:t>📊</a:t>
            </a:r>
          </a:p>
        </p:txBody>
      </p:sp>
      <p:sp>
        <p:nvSpPr>
          <p:cNvPr id="21" name="TextBox 20"/>
          <p:cNvSpPr txBox="1"/>
          <p:nvPr/>
        </p:nvSpPr>
        <p:spPr>
          <a:xfrm>
            <a:off x="9555480" y="4251960"/>
            <a:ext cx="1737360" cy="594360"/>
          </a:xfrm>
          <a:prstGeom prst="rect">
            <a:avLst/>
          </a:prstGeom>
          <a:noFill/>
        </p:spPr>
        <p:txBody>
          <a:bodyPr wrap="square">
            <a:spAutoFit/>
          </a:bodyPr>
          <a:lstStyle/>
          <a:p>
            <a:pPr algn="ctr"/>
            <a:r>
              <a:rPr sz="1050" b="0" i="0">
                <a:solidFill>
                  <a:srgbClr val="8A877F"/>
                </a:solidFill>
                <a:latin typeface="Calibri"/>
              </a:rPr>
              <a:t>Logs every outcome
to your CRM</a:t>
            </a:r>
          </a:p>
        </p:txBody>
      </p:sp>
      <p:sp>
        <p:nvSpPr>
          <p:cNvPr id="22" name="Rectangle 21"/>
          <p:cNvSpPr/>
          <p:nvPr/>
        </p:nvSpPr>
        <p:spPr>
          <a:xfrm>
            <a:off x="502920" y="5074920"/>
            <a:ext cx="11183112" cy="1078992"/>
          </a:xfrm>
          <a:prstGeom prst="rect">
            <a:avLst/>
          </a:prstGeom>
          <a:solidFill>
            <a:srgbClr val="1A1C17"/>
          </a:solidFill>
          <a:ln w="9525">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5074920"/>
            <a:ext cx="54864" cy="107899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166360"/>
            <a:ext cx="10881360" cy="896112"/>
          </a:xfrm>
          <a:prstGeom prst="rect">
            <a:avLst/>
          </a:prstGeom>
          <a:noFill/>
        </p:spPr>
        <p:txBody>
          <a:bodyPr wrap="square">
            <a:spAutoFit/>
          </a:bodyPr>
          <a:lstStyle/>
          <a:p>
            <a:pPr algn="l"/>
            <a:r>
              <a:rPr sz="1300" b="0" i="1">
                <a:solidFill>
                  <a:srgbClr val="E2CFA0"/>
                </a:solidFill>
                <a:latin typeface="Georgia"/>
              </a:rPr>
              <a:t>"Good evening — this is Ava, calling from The London Dermatology Centre. Thank you for your interest in our aesthetics treatments. All conversations are completely confidential. Are you still looking to arrange a consultation with one of our specialists?"</a:t>
            </a:r>
          </a:p>
        </p:txBody>
      </p:sp>
      <p:sp>
        <p:nvSpPr>
          <p:cNvPr id="25" name="Rectangle 24"/>
          <p:cNvSpPr/>
          <p:nvPr/>
        </p:nvSpPr>
        <p:spPr>
          <a:xfrm>
            <a:off x="0" y="6565392"/>
            <a:ext cx="12188952" cy="292608"/>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6583680"/>
            <a:ext cx="11640312" cy="256032"/>
          </a:xfrm>
          <a:prstGeom prst="rect">
            <a:avLst/>
          </a:prstGeom>
          <a:noFill/>
        </p:spPr>
        <p:txBody>
          <a:bodyPr wrap="square">
            <a:spAutoFit/>
          </a:bodyPr>
          <a:lstStyle/>
          <a:p>
            <a:pPr algn="ctr"/>
            <a:r>
              <a:rPr sz="900" b="0" i="0">
                <a:solidFill>
                  <a:srgbClr val="8A877F"/>
                </a:solidFill>
                <a:latin typeface="Calibri"/>
              </a:rPr>
              <a:t>Warm · Medically professional · Confidential · Available when your clinic is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347472"/>
          </a:xfrm>
          <a:prstGeom prst="rect">
            <a:avLst/>
          </a:prstGeom>
          <a:noFill/>
        </p:spPr>
        <p:txBody>
          <a:bodyPr wrap="square">
            <a:spAutoFit/>
          </a:bodyPr>
          <a:lstStyle/>
          <a:p>
            <a:pPr algn="l"/>
            <a:r>
              <a:rPr sz="1100" b="1" i="0">
                <a:solidFill>
                  <a:srgbClr val="C4A45A"/>
                </a:solidFill>
                <a:latin typeface="Calibri"/>
              </a:rPr>
              <a:t>T H E   F O C U S</a:t>
            </a:r>
          </a:p>
        </p:txBody>
      </p:sp>
      <p:sp>
        <p:nvSpPr>
          <p:cNvPr id="5" name="TextBox 4"/>
          <p:cNvSpPr txBox="1"/>
          <p:nvPr/>
        </p:nvSpPr>
        <p:spPr>
          <a:xfrm>
            <a:off x="502920" y="621792"/>
            <a:ext cx="10789920" cy="1325880"/>
          </a:xfrm>
          <a:prstGeom prst="rect">
            <a:avLst/>
          </a:prstGeom>
          <a:noFill/>
        </p:spPr>
        <p:txBody>
          <a:bodyPr wrap="square">
            <a:spAutoFit/>
          </a:bodyPr>
          <a:lstStyle/>
          <a:p>
            <a:pPr algn="l"/>
            <a:r>
              <a:rPr sz="3000" b="1" i="0">
                <a:solidFill>
                  <a:srgbClr val="FFFFFF"/>
                </a:solidFill>
                <a:latin typeface="Georgia"/>
              </a:rPr>
              <a:t>Ava is trained on your full aesthetics menu</a:t>
            </a:r>
          </a:p>
        </p:txBody>
      </p:sp>
      <p:sp>
        <p:nvSpPr>
          <p:cNvPr id="6" name="TextBox 5"/>
          <p:cNvSpPr txBox="1"/>
          <p:nvPr/>
        </p:nvSpPr>
        <p:spPr>
          <a:xfrm>
            <a:off x="502920" y="2029968"/>
            <a:ext cx="11183112" cy="658368"/>
          </a:xfrm>
          <a:prstGeom prst="rect">
            <a:avLst/>
          </a:prstGeom>
          <a:noFill/>
        </p:spPr>
        <p:txBody>
          <a:bodyPr wrap="square">
            <a:spAutoFit/>
          </a:bodyPr>
          <a:lstStyle/>
          <a:p>
            <a:pPr algn="l"/>
            <a:r>
              <a:rPr sz="1300" b="0" i="0">
                <a:solidFill>
                  <a:srgbClr val="8A877F"/>
                </a:solidFill>
                <a:latin typeface="Calibri"/>
              </a:rPr>
              <a:t>Ava knows every treatment, typical price range, procedure overview, recovery time, and how to direct clinical questions to your consultants. She can discuss all of the following intelligently — and book a consultation for any of them.</a:t>
            </a:r>
          </a:p>
        </p:txBody>
      </p:sp>
      <p:sp>
        <p:nvSpPr>
          <p:cNvPr id="7" name="Rectangle 6"/>
          <p:cNvSpPr/>
          <p:nvPr/>
        </p:nvSpPr>
        <p:spPr>
          <a:xfrm>
            <a:off x="411480" y="2834640"/>
            <a:ext cx="3611880" cy="804672"/>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2834640"/>
            <a:ext cx="45720" cy="80467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2907792"/>
            <a:ext cx="3200400" cy="365760"/>
          </a:xfrm>
          <a:prstGeom prst="rect">
            <a:avLst/>
          </a:prstGeom>
          <a:noFill/>
        </p:spPr>
        <p:txBody>
          <a:bodyPr wrap="square">
            <a:spAutoFit/>
          </a:bodyPr>
          <a:lstStyle/>
          <a:p>
            <a:pPr algn="l"/>
            <a:r>
              <a:rPr sz="1200" b="1" i="0">
                <a:solidFill>
                  <a:srgbClr val="EAE6DE"/>
                </a:solidFill>
                <a:latin typeface="Calibri"/>
              </a:rPr>
              <a:t>Anti-Wrinkle Injections</a:t>
            </a:r>
          </a:p>
        </p:txBody>
      </p:sp>
      <p:sp>
        <p:nvSpPr>
          <p:cNvPr id="10" name="TextBox 9"/>
          <p:cNvSpPr txBox="1"/>
          <p:nvPr/>
        </p:nvSpPr>
        <p:spPr>
          <a:xfrm>
            <a:off x="576072" y="3291840"/>
            <a:ext cx="3200400" cy="274320"/>
          </a:xfrm>
          <a:prstGeom prst="rect">
            <a:avLst/>
          </a:prstGeom>
          <a:noFill/>
        </p:spPr>
        <p:txBody>
          <a:bodyPr wrap="square">
            <a:spAutoFit/>
          </a:bodyPr>
          <a:lstStyle/>
          <a:p>
            <a:pPr algn="l"/>
            <a:r>
              <a:rPr sz="1100" b="0" i="0">
                <a:solidFill>
                  <a:srgbClr val="C4A45A"/>
                </a:solidFill>
                <a:latin typeface="Calibri"/>
              </a:rPr>
              <a:t>From £250</a:t>
            </a:r>
          </a:p>
        </p:txBody>
      </p:sp>
      <p:sp>
        <p:nvSpPr>
          <p:cNvPr id="11" name="Rectangle 10"/>
          <p:cNvSpPr/>
          <p:nvPr/>
        </p:nvSpPr>
        <p:spPr>
          <a:xfrm>
            <a:off x="4251960" y="2834640"/>
            <a:ext cx="3611880" cy="804672"/>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2834640"/>
            <a:ext cx="45720" cy="80467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2907792"/>
            <a:ext cx="3200400" cy="365760"/>
          </a:xfrm>
          <a:prstGeom prst="rect">
            <a:avLst/>
          </a:prstGeom>
          <a:noFill/>
        </p:spPr>
        <p:txBody>
          <a:bodyPr wrap="square">
            <a:spAutoFit/>
          </a:bodyPr>
          <a:lstStyle/>
          <a:p>
            <a:pPr algn="l"/>
            <a:r>
              <a:rPr sz="1200" b="1" i="0">
                <a:solidFill>
                  <a:srgbClr val="EAE6DE"/>
                </a:solidFill>
                <a:latin typeface="Calibri"/>
              </a:rPr>
              <a:t>Dermal Fillers</a:t>
            </a:r>
          </a:p>
        </p:txBody>
      </p:sp>
      <p:sp>
        <p:nvSpPr>
          <p:cNvPr id="14" name="TextBox 13"/>
          <p:cNvSpPr txBox="1"/>
          <p:nvPr/>
        </p:nvSpPr>
        <p:spPr>
          <a:xfrm>
            <a:off x="4416552" y="3291840"/>
            <a:ext cx="3200400" cy="274320"/>
          </a:xfrm>
          <a:prstGeom prst="rect">
            <a:avLst/>
          </a:prstGeom>
          <a:noFill/>
        </p:spPr>
        <p:txBody>
          <a:bodyPr wrap="square">
            <a:spAutoFit/>
          </a:bodyPr>
          <a:lstStyle/>
          <a:p>
            <a:pPr algn="l"/>
            <a:r>
              <a:rPr sz="1100" b="0" i="0">
                <a:solidFill>
                  <a:srgbClr val="C4A45A"/>
                </a:solidFill>
                <a:latin typeface="Calibri"/>
              </a:rPr>
              <a:t>From £350</a:t>
            </a:r>
          </a:p>
        </p:txBody>
      </p:sp>
      <p:sp>
        <p:nvSpPr>
          <p:cNvPr id="15" name="Rectangle 14"/>
          <p:cNvSpPr/>
          <p:nvPr/>
        </p:nvSpPr>
        <p:spPr>
          <a:xfrm>
            <a:off x="8092440" y="2834640"/>
            <a:ext cx="3611880" cy="804672"/>
          </a:xfrm>
          <a:prstGeom prst="rect">
            <a:avLst/>
          </a:prstGeom>
          <a:solidFill>
            <a:srgbClr val="1A1C17"/>
          </a:solidFill>
          <a:ln w="6350">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2834640"/>
            <a:ext cx="45720" cy="80467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1" y="2907792"/>
            <a:ext cx="3200400" cy="365760"/>
          </a:xfrm>
          <a:prstGeom prst="rect">
            <a:avLst/>
          </a:prstGeom>
          <a:noFill/>
        </p:spPr>
        <p:txBody>
          <a:bodyPr wrap="square">
            <a:spAutoFit/>
          </a:bodyPr>
          <a:lstStyle/>
          <a:p>
            <a:pPr algn="l"/>
            <a:r>
              <a:rPr sz="1200" b="1" i="0">
                <a:solidFill>
                  <a:srgbClr val="EAE6DE"/>
                </a:solidFill>
                <a:latin typeface="Calibri"/>
              </a:rPr>
              <a:t>Fraxel Laser</a:t>
            </a:r>
          </a:p>
        </p:txBody>
      </p:sp>
      <p:sp>
        <p:nvSpPr>
          <p:cNvPr id="18" name="TextBox 17"/>
          <p:cNvSpPr txBox="1"/>
          <p:nvPr/>
        </p:nvSpPr>
        <p:spPr>
          <a:xfrm>
            <a:off x="8257031" y="3291840"/>
            <a:ext cx="3200400" cy="274320"/>
          </a:xfrm>
          <a:prstGeom prst="rect">
            <a:avLst/>
          </a:prstGeom>
          <a:noFill/>
        </p:spPr>
        <p:txBody>
          <a:bodyPr wrap="square">
            <a:spAutoFit/>
          </a:bodyPr>
          <a:lstStyle/>
          <a:p>
            <a:pPr algn="l"/>
            <a:r>
              <a:rPr sz="1100" b="0" i="0">
                <a:solidFill>
                  <a:srgbClr val="6B9E72"/>
                </a:solidFill>
                <a:latin typeface="Calibri"/>
              </a:rPr>
              <a:t>From £800</a:t>
            </a:r>
          </a:p>
        </p:txBody>
      </p:sp>
      <p:sp>
        <p:nvSpPr>
          <p:cNvPr id="19" name="Rectangle 18"/>
          <p:cNvSpPr/>
          <p:nvPr/>
        </p:nvSpPr>
        <p:spPr>
          <a:xfrm>
            <a:off x="411480" y="3785616"/>
            <a:ext cx="3611880" cy="804672"/>
          </a:xfrm>
          <a:prstGeom prst="rect">
            <a:avLst/>
          </a:prstGeom>
          <a:solidFill>
            <a:srgbClr val="1A1C17"/>
          </a:solidFill>
          <a:ln w="6350">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3785616"/>
            <a:ext cx="45720" cy="80467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3858768"/>
            <a:ext cx="3200400" cy="365760"/>
          </a:xfrm>
          <a:prstGeom prst="rect">
            <a:avLst/>
          </a:prstGeom>
          <a:noFill/>
        </p:spPr>
        <p:txBody>
          <a:bodyPr wrap="square">
            <a:spAutoFit/>
          </a:bodyPr>
          <a:lstStyle/>
          <a:p>
            <a:pPr algn="l"/>
            <a:r>
              <a:rPr sz="1200" b="1" i="0">
                <a:solidFill>
                  <a:srgbClr val="EAE6DE"/>
                </a:solidFill>
                <a:latin typeface="Calibri"/>
              </a:rPr>
              <a:t>IPL Skin Rejuvenation</a:t>
            </a:r>
          </a:p>
        </p:txBody>
      </p:sp>
      <p:sp>
        <p:nvSpPr>
          <p:cNvPr id="22" name="TextBox 21"/>
          <p:cNvSpPr txBox="1"/>
          <p:nvPr/>
        </p:nvSpPr>
        <p:spPr>
          <a:xfrm>
            <a:off x="576072" y="4242816"/>
            <a:ext cx="3200400" cy="274320"/>
          </a:xfrm>
          <a:prstGeom prst="rect">
            <a:avLst/>
          </a:prstGeom>
          <a:noFill/>
        </p:spPr>
        <p:txBody>
          <a:bodyPr wrap="square">
            <a:spAutoFit/>
          </a:bodyPr>
          <a:lstStyle/>
          <a:p>
            <a:pPr algn="l"/>
            <a:r>
              <a:rPr sz="1100" b="0" i="0">
                <a:solidFill>
                  <a:srgbClr val="6B9E72"/>
                </a:solidFill>
                <a:latin typeface="Calibri"/>
              </a:rPr>
              <a:t>From £400</a:t>
            </a:r>
          </a:p>
        </p:txBody>
      </p:sp>
      <p:sp>
        <p:nvSpPr>
          <p:cNvPr id="23" name="Rectangle 22"/>
          <p:cNvSpPr/>
          <p:nvPr/>
        </p:nvSpPr>
        <p:spPr>
          <a:xfrm>
            <a:off x="4251960" y="3785616"/>
            <a:ext cx="3611880" cy="804672"/>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3785616"/>
            <a:ext cx="45720" cy="80467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16552" y="3858768"/>
            <a:ext cx="3200400" cy="365760"/>
          </a:xfrm>
          <a:prstGeom prst="rect">
            <a:avLst/>
          </a:prstGeom>
          <a:noFill/>
        </p:spPr>
        <p:txBody>
          <a:bodyPr wrap="square">
            <a:spAutoFit/>
          </a:bodyPr>
          <a:lstStyle/>
          <a:p>
            <a:pPr algn="l"/>
            <a:r>
              <a:rPr sz="1200" b="1" i="0">
                <a:solidFill>
                  <a:srgbClr val="EAE6DE"/>
                </a:solidFill>
                <a:latin typeface="Calibri"/>
              </a:rPr>
              <a:t>PDO Thread Lift</a:t>
            </a:r>
          </a:p>
        </p:txBody>
      </p:sp>
      <p:sp>
        <p:nvSpPr>
          <p:cNvPr id="26" name="TextBox 25"/>
          <p:cNvSpPr txBox="1"/>
          <p:nvPr/>
        </p:nvSpPr>
        <p:spPr>
          <a:xfrm>
            <a:off x="4416552" y="4242816"/>
            <a:ext cx="3200400" cy="274320"/>
          </a:xfrm>
          <a:prstGeom prst="rect">
            <a:avLst/>
          </a:prstGeom>
          <a:noFill/>
        </p:spPr>
        <p:txBody>
          <a:bodyPr wrap="square">
            <a:spAutoFit/>
          </a:bodyPr>
          <a:lstStyle/>
          <a:p>
            <a:pPr algn="l"/>
            <a:r>
              <a:rPr sz="1100" b="0" i="0">
                <a:solidFill>
                  <a:srgbClr val="C4A45A"/>
                </a:solidFill>
                <a:latin typeface="Calibri"/>
              </a:rPr>
              <a:t>POA</a:t>
            </a:r>
          </a:p>
        </p:txBody>
      </p:sp>
      <p:sp>
        <p:nvSpPr>
          <p:cNvPr id="27" name="Rectangle 26"/>
          <p:cNvSpPr/>
          <p:nvPr/>
        </p:nvSpPr>
        <p:spPr>
          <a:xfrm>
            <a:off x="8092440" y="3785616"/>
            <a:ext cx="3611880" cy="804672"/>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92440" y="3785616"/>
            <a:ext cx="45720" cy="80467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7031" y="3858768"/>
            <a:ext cx="3200400" cy="365760"/>
          </a:xfrm>
          <a:prstGeom prst="rect">
            <a:avLst/>
          </a:prstGeom>
          <a:noFill/>
        </p:spPr>
        <p:txBody>
          <a:bodyPr wrap="square">
            <a:spAutoFit/>
          </a:bodyPr>
          <a:lstStyle/>
          <a:p>
            <a:pPr algn="l"/>
            <a:r>
              <a:rPr sz="1200" b="1" i="0">
                <a:solidFill>
                  <a:srgbClr val="EAE6DE"/>
                </a:solidFill>
                <a:latin typeface="Calibri"/>
              </a:rPr>
              <a:t>Polynucleotides</a:t>
            </a:r>
          </a:p>
        </p:txBody>
      </p:sp>
      <p:sp>
        <p:nvSpPr>
          <p:cNvPr id="30" name="TextBox 29"/>
          <p:cNvSpPr txBox="1"/>
          <p:nvPr/>
        </p:nvSpPr>
        <p:spPr>
          <a:xfrm>
            <a:off x="8257031" y="4242816"/>
            <a:ext cx="3200400" cy="274320"/>
          </a:xfrm>
          <a:prstGeom prst="rect">
            <a:avLst/>
          </a:prstGeom>
          <a:noFill/>
        </p:spPr>
        <p:txBody>
          <a:bodyPr wrap="square">
            <a:spAutoFit/>
          </a:bodyPr>
          <a:lstStyle/>
          <a:p>
            <a:pPr algn="l"/>
            <a:r>
              <a:rPr sz="1100" b="0" i="0">
                <a:solidFill>
                  <a:srgbClr val="C4A45A"/>
                </a:solidFill>
                <a:latin typeface="Calibri"/>
              </a:rPr>
              <a:t>POA</a:t>
            </a:r>
          </a:p>
        </p:txBody>
      </p:sp>
      <p:sp>
        <p:nvSpPr>
          <p:cNvPr id="31" name="Rectangle 30"/>
          <p:cNvSpPr/>
          <p:nvPr/>
        </p:nvSpPr>
        <p:spPr>
          <a:xfrm>
            <a:off x="411480" y="4736592"/>
            <a:ext cx="3611880" cy="804672"/>
          </a:xfrm>
          <a:prstGeom prst="rect">
            <a:avLst/>
          </a:prstGeom>
          <a:solidFill>
            <a:srgbClr val="1A1C17"/>
          </a:solidFill>
          <a:ln w="6350">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736592"/>
            <a:ext cx="45720" cy="80467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4809744"/>
            <a:ext cx="3200400" cy="365760"/>
          </a:xfrm>
          <a:prstGeom prst="rect">
            <a:avLst/>
          </a:prstGeom>
          <a:noFill/>
        </p:spPr>
        <p:txBody>
          <a:bodyPr wrap="square">
            <a:spAutoFit/>
          </a:bodyPr>
          <a:lstStyle/>
          <a:p>
            <a:pPr algn="l"/>
            <a:r>
              <a:rPr sz="1200" b="1" i="0">
                <a:solidFill>
                  <a:srgbClr val="EAE6DE"/>
                </a:solidFill>
                <a:latin typeface="Calibri"/>
              </a:rPr>
              <a:t>Clear &amp; Brilliant</a:t>
            </a:r>
          </a:p>
        </p:txBody>
      </p:sp>
      <p:sp>
        <p:nvSpPr>
          <p:cNvPr id="34" name="TextBox 33"/>
          <p:cNvSpPr txBox="1"/>
          <p:nvPr/>
        </p:nvSpPr>
        <p:spPr>
          <a:xfrm>
            <a:off x="576072" y="5193792"/>
            <a:ext cx="3200400" cy="274320"/>
          </a:xfrm>
          <a:prstGeom prst="rect">
            <a:avLst/>
          </a:prstGeom>
          <a:noFill/>
        </p:spPr>
        <p:txBody>
          <a:bodyPr wrap="square">
            <a:spAutoFit/>
          </a:bodyPr>
          <a:lstStyle/>
          <a:p>
            <a:pPr algn="l"/>
            <a:r>
              <a:rPr sz="1100" b="0" i="0">
                <a:solidFill>
                  <a:srgbClr val="6B9E72"/>
                </a:solidFill>
                <a:latin typeface="Calibri"/>
              </a:rPr>
              <a:t>From £450</a:t>
            </a:r>
          </a:p>
        </p:txBody>
      </p:sp>
      <p:sp>
        <p:nvSpPr>
          <p:cNvPr id="35" name="Rectangle 34"/>
          <p:cNvSpPr/>
          <p:nvPr/>
        </p:nvSpPr>
        <p:spPr>
          <a:xfrm>
            <a:off x="4251960" y="4736592"/>
            <a:ext cx="3611880" cy="804672"/>
          </a:xfrm>
          <a:prstGeom prst="rect">
            <a:avLst/>
          </a:prstGeom>
          <a:solidFill>
            <a:srgbClr val="1A1C17"/>
          </a:solidFill>
          <a:ln w="6350">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51960" y="4736592"/>
            <a:ext cx="45720" cy="80467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16552" y="4809744"/>
            <a:ext cx="3200400" cy="365760"/>
          </a:xfrm>
          <a:prstGeom prst="rect">
            <a:avLst/>
          </a:prstGeom>
          <a:noFill/>
        </p:spPr>
        <p:txBody>
          <a:bodyPr wrap="square">
            <a:spAutoFit/>
          </a:bodyPr>
          <a:lstStyle/>
          <a:p>
            <a:pPr algn="l"/>
            <a:r>
              <a:rPr sz="1200" b="1" i="0">
                <a:solidFill>
                  <a:srgbClr val="EAE6DE"/>
                </a:solidFill>
                <a:latin typeface="Calibri"/>
              </a:rPr>
              <a:t>Facial Peels</a:t>
            </a:r>
          </a:p>
        </p:txBody>
      </p:sp>
      <p:sp>
        <p:nvSpPr>
          <p:cNvPr id="38" name="TextBox 37"/>
          <p:cNvSpPr txBox="1"/>
          <p:nvPr/>
        </p:nvSpPr>
        <p:spPr>
          <a:xfrm>
            <a:off x="4416552" y="5193792"/>
            <a:ext cx="3200400" cy="274320"/>
          </a:xfrm>
          <a:prstGeom prst="rect">
            <a:avLst/>
          </a:prstGeom>
          <a:noFill/>
        </p:spPr>
        <p:txBody>
          <a:bodyPr wrap="square">
            <a:spAutoFit/>
          </a:bodyPr>
          <a:lstStyle/>
          <a:p>
            <a:pPr algn="l"/>
            <a:r>
              <a:rPr sz="1100" b="0" i="0">
                <a:solidFill>
                  <a:srgbClr val="6B9E72"/>
                </a:solidFill>
                <a:latin typeface="Calibri"/>
              </a:rPr>
              <a:t>From £150</a:t>
            </a:r>
          </a:p>
        </p:txBody>
      </p:sp>
      <p:sp>
        <p:nvSpPr>
          <p:cNvPr id="39" name="Rectangle 38"/>
          <p:cNvSpPr/>
          <p:nvPr/>
        </p:nvSpPr>
        <p:spPr>
          <a:xfrm>
            <a:off x="8092440" y="4736592"/>
            <a:ext cx="3611880" cy="804672"/>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92440" y="4736592"/>
            <a:ext cx="45720" cy="80467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57031" y="4809744"/>
            <a:ext cx="3200400" cy="365760"/>
          </a:xfrm>
          <a:prstGeom prst="rect">
            <a:avLst/>
          </a:prstGeom>
          <a:noFill/>
        </p:spPr>
        <p:txBody>
          <a:bodyPr wrap="square">
            <a:spAutoFit/>
          </a:bodyPr>
          <a:lstStyle/>
          <a:p>
            <a:pPr algn="l"/>
            <a:r>
              <a:rPr sz="1200" b="1" i="0">
                <a:solidFill>
                  <a:srgbClr val="EAE6DE"/>
                </a:solidFill>
                <a:latin typeface="Calibri"/>
              </a:rPr>
              <a:t>Laser Hair Removal</a:t>
            </a:r>
          </a:p>
        </p:txBody>
      </p:sp>
      <p:sp>
        <p:nvSpPr>
          <p:cNvPr id="42" name="TextBox 41"/>
          <p:cNvSpPr txBox="1"/>
          <p:nvPr/>
        </p:nvSpPr>
        <p:spPr>
          <a:xfrm>
            <a:off x="8257031" y="5193792"/>
            <a:ext cx="3200400" cy="274320"/>
          </a:xfrm>
          <a:prstGeom prst="rect">
            <a:avLst/>
          </a:prstGeom>
          <a:noFill/>
        </p:spPr>
        <p:txBody>
          <a:bodyPr wrap="square">
            <a:spAutoFit/>
          </a:bodyPr>
          <a:lstStyle/>
          <a:p>
            <a:pPr algn="l"/>
            <a:r>
              <a:rPr sz="1100" b="0" i="0">
                <a:solidFill>
                  <a:srgbClr val="C4A45A"/>
                </a:solidFill>
                <a:latin typeface="Calibri"/>
              </a:rPr>
              <a:t>From £150</a:t>
            </a:r>
          </a:p>
        </p:txBody>
      </p:sp>
      <p:sp>
        <p:nvSpPr>
          <p:cNvPr id="43" name="Rectangle 42"/>
          <p:cNvSpPr/>
          <p:nvPr/>
        </p:nvSpPr>
        <p:spPr>
          <a:xfrm>
            <a:off x="411480" y="5687568"/>
            <a:ext cx="3611880" cy="804672"/>
          </a:xfrm>
          <a:prstGeom prst="rect">
            <a:avLst/>
          </a:prstGeom>
          <a:solidFill>
            <a:srgbClr val="1A1C17"/>
          </a:solidFill>
          <a:ln w="63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5687568"/>
            <a:ext cx="45720" cy="80467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5760720"/>
            <a:ext cx="3200400" cy="365760"/>
          </a:xfrm>
          <a:prstGeom prst="rect">
            <a:avLst/>
          </a:prstGeom>
          <a:noFill/>
        </p:spPr>
        <p:txBody>
          <a:bodyPr wrap="square">
            <a:spAutoFit/>
          </a:bodyPr>
          <a:lstStyle/>
          <a:p>
            <a:pPr algn="l"/>
            <a:r>
              <a:rPr sz="1200" b="1" i="0">
                <a:solidFill>
                  <a:srgbClr val="EAE6DE"/>
                </a:solidFill>
                <a:latin typeface="Calibri"/>
              </a:rPr>
              <a:t>Microdermabrasion</a:t>
            </a:r>
          </a:p>
        </p:txBody>
      </p:sp>
      <p:sp>
        <p:nvSpPr>
          <p:cNvPr id="46" name="TextBox 45"/>
          <p:cNvSpPr txBox="1"/>
          <p:nvPr/>
        </p:nvSpPr>
        <p:spPr>
          <a:xfrm>
            <a:off x="576072" y="6144768"/>
            <a:ext cx="3200400" cy="274320"/>
          </a:xfrm>
          <a:prstGeom prst="rect">
            <a:avLst/>
          </a:prstGeom>
          <a:noFill/>
        </p:spPr>
        <p:txBody>
          <a:bodyPr wrap="square">
            <a:spAutoFit/>
          </a:bodyPr>
          <a:lstStyle/>
          <a:p>
            <a:pPr algn="l"/>
            <a:r>
              <a:rPr sz="1100" b="0" i="0">
                <a:solidFill>
                  <a:srgbClr val="C4A45A"/>
                </a:solidFill>
                <a:latin typeface="Calibri"/>
              </a:rPr>
              <a:t>From £120</a:t>
            </a:r>
          </a:p>
        </p:txBody>
      </p:sp>
      <p:sp>
        <p:nvSpPr>
          <p:cNvPr id="47" name="Rectangle 46"/>
          <p:cNvSpPr/>
          <p:nvPr/>
        </p:nvSpPr>
        <p:spPr>
          <a:xfrm>
            <a:off x="4251960" y="5687568"/>
            <a:ext cx="3611880" cy="804672"/>
          </a:xfrm>
          <a:prstGeom prst="rect">
            <a:avLst/>
          </a:prstGeom>
          <a:solidFill>
            <a:srgbClr val="1A1C17"/>
          </a:solidFill>
          <a:ln w="6350">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251960" y="5687568"/>
            <a:ext cx="45720" cy="80467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16552" y="5760720"/>
            <a:ext cx="3200400" cy="365760"/>
          </a:xfrm>
          <a:prstGeom prst="rect">
            <a:avLst/>
          </a:prstGeom>
          <a:noFill/>
        </p:spPr>
        <p:txBody>
          <a:bodyPr wrap="square">
            <a:spAutoFit/>
          </a:bodyPr>
          <a:lstStyle/>
          <a:p>
            <a:pPr algn="l"/>
            <a:r>
              <a:rPr sz="1200" b="1" i="0">
                <a:solidFill>
                  <a:srgbClr val="EAE6DE"/>
                </a:solidFill>
                <a:latin typeface="Calibri"/>
              </a:rPr>
              <a:t>Acne Scar Treatment</a:t>
            </a:r>
          </a:p>
        </p:txBody>
      </p:sp>
      <p:sp>
        <p:nvSpPr>
          <p:cNvPr id="50" name="TextBox 49"/>
          <p:cNvSpPr txBox="1"/>
          <p:nvPr/>
        </p:nvSpPr>
        <p:spPr>
          <a:xfrm>
            <a:off x="4416552" y="6144768"/>
            <a:ext cx="3200400" cy="274320"/>
          </a:xfrm>
          <a:prstGeom prst="rect">
            <a:avLst/>
          </a:prstGeom>
          <a:noFill/>
        </p:spPr>
        <p:txBody>
          <a:bodyPr wrap="square">
            <a:spAutoFit/>
          </a:bodyPr>
          <a:lstStyle/>
          <a:p>
            <a:pPr algn="l"/>
            <a:r>
              <a:rPr sz="1100" b="0" i="0">
                <a:solidFill>
                  <a:srgbClr val="6B9E72"/>
                </a:solidFill>
                <a:latin typeface="Calibri"/>
              </a:rPr>
              <a:t>From £600</a:t>
            </a:r>
          </a:p>
        </p:txBody>
      </p:sp>
      <p:sp>
        <p:nvSpPr>
          <p:cNvPr id="51" name="Rectangle 50"/>
          <p:cNvSpPr/>
          <p:nvPr/>
        </p:nvSpPr>
        <p:spPr>
          <a:xfrm>
            <a:off x="8092440" y="5687568"/>
            <a:ext cx="3611880" cy="804672"/>
          </a:xfrm>
          <a:prstGeom prst="rect">
            <a:avLst/>
          </a:prstGeom>
          <a:solidFill>
            <a:srgbClr val="1A1C17"/>
          </a:solidFill>
          <a:ln w="6350">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92440" y="5687568"/>
            <a:ext cx="45720" cy="80467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57031" y="5760720"/>
            <a:ext cx="3200400" cy="365760"/>
          </a:xfrm>
          <a:prstGeom prst="rect">
            <a:avLst/>
          </a:prstGeom>
          <a:noFill/>
        </p:spPr>
        <p:txBody>
          <a:bodyPr wrap="square">
            <a:spAutoFit/>
          </a:bodyPr>
          <a:lstStyle/>
          <a:p>
            <a:pPr algn="l"/>
            <a:r>
              <a:rPr sz="1200" b="1" i="0">
                <a:solidFill>
                  <a:srgbClr val="EAE6DE"/>
                </a:solidFill>
                <a:latin typeface="Calibri"/>
              </a:rPr>
              <a:t>Mole &amp; Lesion Assessment</a:t>
            </a:r>
          </a:p>
        </p:txBody>
      </p:sp>
      <p:sp>
        <p:nvSpPr>
          <p:cNvPr id="54" name="TextBox 53"/>
          <p:cNvSpPr txBox="1"/>
          <p:nvPr/>
        </p:nvSpPr>
        <p:spPr>
          <a:xfrm>
            <a:off x="8257031" y="6144768"/>
            <a:ext cx="3200400" cy="274320"/>
          </a:xfrm>
          <a:prstGeom prst="rect">
            <a:avLst/>
          </a:prstGeom>
          <a:noFill/>
        </p:spPr>
        <p:txBody>
          <a:bodyPr wrap="square">
            <a:spAutoFit/>
          </a:bodyPr>
          <a:lstStyle/>
          <a:p>
            <a:pPr algn="l"/>
            <a:r>
              <a:rPr sz="1100" b="0" i="0">
                <a:solidFill>
                  <a:srgbClr val="6B9E72"/>
                </a:solidFill>
                <a:latin typeface="Calibri"/>
              </a:rPr>
              <a:t>From £200</a:t>
            </a:r>
          </a:p>
        </p:txBody>
      </p:sp>
      <p:sp>
        <p:nvSpPr>
          <p:cNvPr id="55" name="Rectangle 54"/>
          <p:cNvSpPr/>
          <p:nvPr/>
        </p:nvSpPr>
        <p:spPr>
          <a:xfrm>
            <a:off x="0" y="6565392"/>
            <a:ext cx="12188952" cy="292608"/>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74320" y="6583680"/>
            <a:ext cx="11640312" cy="256032"/>
          </a:xfrm>
          <a:prstGeom prst="rect">
            <a:avLst/>
          </a:prstGeom>
          <a:noFill/>
        </p:spPr>
        <p:txBody>
          <a:bodyPr wrap="square">
            <a:spAutoFit/>
          </a:bodyPr>
          <a:lstStyle/>
          <a:p>
            <a:pPr algn="ctr"/>
            <a:r>
              <a:rPr sz="900" b="0" i="0">
                <a:solidFill>
                  <a:srgbClr val="8A877F"/>
                </a:solidFill>
                <a:latin typeface="Calibri"/>
              </a:rPr>
              <a:t>Ava defers all clinical decisions to your GMC-registered consultants · She books, she never diagnoses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315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347472"/>
          </a:xfrm>
          <a:prstGeom prst="rect">
            <a:avLst/>
          </a:prstGeom>
          <a:noFill/>
        </p:spPr>
        <p:txBody>
          <a:bodyPr wrap="square">
            <a:spAutoFit/>
          </a:bodyPr>
          <a:lstStyle/>
          <a:p>
            <a:pPr algn="l"/>
            <a:r>
              <a:rPr sz="1100" b="1" i="0">
                <a:solidFill>
                  <a:srgbClr val="6B9E72"/>
                </a:solidFill>
                <a:latin typeface="Calibri"/>
              </a:rPr>
              <a:t>T H E   P R O C E S S</a:t>
            </a:r>
          </a:p>
        </p:txBody>
      </p:sp>
      <p:sp>
        <p:nvSpPr>
          <p:cNvPr id="5" name="TextBox 4"/>
          <p:cNvSpPr txBox="1"/>
          <p:nvPr/>
        </p:nvSpPr>
        <p:spPr>
          <a:xfrm>
            <a:off x="502920" y="621792"/>
            <a:ext cx="10789920" cy="914400"/>
          </a:xfrm>
          <a:prstGeom prst="rect">
            <a:avLst/>
          </a:prstGeom>
          <a:noFill/>
        </p:spPr>
        <p:txBody>
          <a:bodyPr wrap="square">
            <a:spAutoFit/>
          </a:bodyPr>
          <a:lstStyle/>
          <a:p>
            <a:pPr algn="l"/>
            <a:r>
              <a:rPr sz="3600" b="1" i="0">
                <a:solidFill>
                  <a:srgbClr val="FFFFFF"/>
                </a:solidFill>
                <a:latin typeface="Georgia"/>
              </a:rPr>
              <a:t>From Sunday evening enquiry to Monday morning booking</a:t>
            </a:r>
          </a:p>
        </p:txBody>
      </p:sp>
      <p:sp>
        <p:nvSpPr>
          <p:cNvPr id="6" name="Rectangle 5"/>
          <p:cNvSpPr/>
          <p:nvPr/>
        </p:nvSpPr>
        <p:spPr>
          <a:xfrm>
            <a:off x="411480" y="1828800"/>
            <a:ext cx="2651760" cy="4315968"/>
          </a:xfrm>
          <a:prstGeom prst="rect">
            <a:avLst/>
          </a:prstGeom>
          <a:solidFill>
            <a:srgbClr val="1A1C17"/>
          </a:solidFill>
          <a:ln w="9525">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828800"/>
            <a:ext cx="2651760" cy="64008"/>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2057400"/>
            <a:ext cx="749808" cy="749808"/>
          </a:xfrm>
          <a:prstGeom prst="ellipse">
            <a:avLst/>
          </a:prstGeom>
          <a:solidFill>
            <a:srgbClr val="0B0C0A"/>
          </a:solidFill>
          <a:ln w="190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084831"/>
            <a:ext cx="749808" cy="658368"/>
          </a:xfrm>
          <a:prstGeom prst="rect">
            <a:avLst/>
          </a:prstGeom>
          <a:noFill/>
        </p:spPr>
        <p:txBody>
          <a:bodyPr wrap="square">
            <a:spAutoFit/>
          </a:bodyPr>
          <a:lstStyle/>
          <a:p>
            <a:pPr algn="ctr"/>
            <a:r>
              <a:rPr sz="2400" b="1" i="0">
                <a:solidFill>
                  <a:srgbClr val="C4A45A"/>
                </a:solidFill>
                <a:latin typeface="Georgia"/>
              </a:rPr>
              <a:t>1</a:t>
            </a:r>
          </a:p>
        </p:txBody>
      </p:sp>
      <p:sp>
        <p:nvSpPr>
          <p:cNvPr id="10" name="TextBox 9"/>
          <p:cNvSpPr txBox="1"/>
          <p:nvPr/>
        </p:nvSpPr>
        <p:spPr>
          <a:xfrm>
            <a:off x="1417320" y="3035808"/>
            <a:ext cx="640080" cy="640080"/>
          </a:xfrm>
          <a:prstGeom prst="rect">
            <a:avLst/>
          </a:prstGeom>
          <a:noFill/>
        </p:spPr>
        <p:txBody>
          <a:bodyPr wrap="square">
            <a:spAutoFit/>
          </a:bodyPr>
          <a:lstStyle/>
          <a:p>
            <a:pPr algn="ctr"/>
            <a:r>
              <a:rPr sz="2800" b="0" i="0">
                <a:solidFill>
                  <a:srgbClr val="EAE6DE"/>
                </a:solidFill>
                <a:latin typeface="Calibri"/>
              </a:rPr>
              <a:t>👤</a:t>
            </a:r>
          </a:p>
        </p:txBody>
      </p:sp>
      <p:sp>
        <p:nvSpPr>
          <p:cNvPr id="11" name="TextBox 10"/>
          <p:cNvSpPr txBox="1"/>
          <p:nvPr/>
        </p:nvSpPr>
        <p:spPr>
          <a:xfrm>
            <a:off x="521208" y="3840480"/>
            <a:ext cx="2432304" cy="457200"/>
          </a:xfrm>
          <a:prstGeom prst="rect">
            <a:avLst/>
          </a:prstGeom>
          <a:noFill/>
        </p:spPr>
        <p:txBody>
          <a:bodyPr wrap="square">
            <a:spAutoFit/>
          </a:bodyPr>
          <a:lstStyle/>
          <a:p>
            <a:pPr algn="ctr"/>
            <a:r>
              <a:rPr sz="1400" b="1" i="0">
                <a:solidFill>
                  <a:srgbClr val="EAE6DE"/>
                </a:solidFill>
                <a:latin typeface="Calibri"/>
              </a:rPr>
              <a:t>Enquiry Received</a:t>
            </a:r>
          </a:p>
        </p:txBody>
      </p:sp>
      <p:sp>
        <p:nvSpPr>
          <p:cNvPr id="12" name="TextBox 11"/>
          <p:cNvSpPr txBox="1"/>
          <p:nvPr/>
        </p:nvSpPr>
        <p:spPr>
          <a:xfrm>
            <a:off x="548640" y="4407408"/>
            <a:ext cx="2377440" cy="1536192"/>
          </a:xfrm>
          <a:prstGeom prst="rect">
            <a:avLst/>
          </a:prstGeom>
          <a:noFill/>
        </p:spPr>
        <p:txBody>
          <a:bodyPr wrap="square">
            <a:spAutoFit/>
          </a:bodyPr>
          <a:lstStyle/>
          <a:p>
            <a:pPr algn="ctr"/>
            <a:r>
              <a:rPr sz="1100" b="0" i="0">
                <a:solidFill>
                  <a:srgbClr val="8A877F"/>
                </a:solidFill>
                <a:latin typeface="Calibri"/>
              </a:rPr>
              <a:t>A patient sees your aesthetics ad on Instagram or Google and submits their interest — any time, day or night.</a:t>
            </a:r>
          </a:p>
        </p:txBody>
      </p:sp>
      <p:sp>
        <p:nvSpPr>
          <p:cNvPr id="13" name="TextBox 12"/>
          <p:cNvSpPr txBox="1"/>
          <p:nvPr/>
        </p:nvSpPr>
        <p:spPr>
          <a:xfrm>
            <a:off x="3118104" y="3246120"/>
            <a:ext cx="274320" cy="457200"/>
          </a:xfrm>
          <a:prstGeom prst="rect">
            <a:avLst/>
          </a:prstGeom>
          <a:noFill/>
        </p:spPr>
        <p:txBody>
          <a:bodyPr wrap="square">
            <a:spAutoFit/>
          </a:bodyPr>
          <a:lstStyle/>
          <a:p>
            <a:pPr algn="ctr"/>
            <a:r>
              <a:rPr sz="2400" b="0" i="0">
                <a:solidFill>
                  <a:srgbClr val="C4A45A"/>
                </a:solidFill>
                <a:latin typeface="Calibri"/>
              </a:rPr>
              <a:t>›</a:t>
            </a:r>
          </a:p>
        </p:txBody>
      </p:sp>
      <p:sp>
        <p:nvSpPr>
          <p:cNvPr id="14" name="Rectangle 13"/>
          <p:cNvSpPr/>
          <p:nvPr/>
        </p:nvSpPr>
        <p:spPr>
          <a:xfrm>
            <a:off x="3429000" y="1828800"/>
            <a:ext cx="2651760" cy="4315968"/>
          </a:xfrm>
          <a:prstGeom prst="rect">
            <a:avLst/>
          </a:prstGeom>
          <a:solidFill>
            <a:srgbClr val="1A1C17"/>
          </a:solidFill>
          <a:ln w="9525">
            <a:solidFill>
              <a:srgbClr val="FF7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1828800"/>
            <a:ext cx="2651760" cy="64008"/>
          </a:xfrm>
          <a:prstGeom prst="rect">
            <a:avLst/>
          </a:prstGeom>
          <a:solidFill>
            <a:srgbClr val="FF7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389120" y="2057400"/>
            <a:ext cx="749808" cy="749808"/>
          </a:xfrm>
          <a:prstGeom prst="ellipse">
            <a:avLst/>
          </a:prstGeom>
          <a:solidFill>
            <a:srgbClr val="0B0C0A"/>
          </a:solidFill>
          <a:ln w="19050">
            <a:solidFill>
              <a:srgbClr val="FF7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084831"/>
            <a:ext cx="749808" cy="658368"/>
          </a:xfrm>
          <a:prstGeom prst="rect">
            <a:avLst/>
          </a:prstGeom>
          <a:noFill/>
        </p:spPr>
        <p:txBody>
          <a:bodyPr wrap="square">
            <a:spAutoFit/>
          </a:bodyPr>
          <a:lstStyle/>
          <a:p>
            <a:pPr algn="ctr"/>
            <a:r>
              <a:rPr sz="2400" b="1" i="0">
                <a:solidFill>
                  <a:srgbClr val="FF7A50"/>
                </a:solidFill>
                <a:latin typeface="Georgia"/>
              </a:rPr>
              <a:t>2</a:t>
            </a:r>
          </a:p>
        </p:txBody>
      </p:sp>
      <p:sp>
        <p:nvSpPr>
          <p:cNvPr id="18" name="TextBox 17"/>
          <p:cNvSpPr txBox="1"/>
          <p:nvPr/>
        </p:nvSpPr>
        <p:spPr>
          <a:xfrm>
            <a:off x="4434840" y="3035808"/>
            <a:ext cx="640080" cy="640080"/>
          </a:xfrm>
          <a:prstGeom prst="rect">
            <a:avLst/>
          </a:prstGeom>
          <a:noFill/>
        </p:spPr>
        <p:txBody>
          <a:bodyPr wrap="square">
            <a:spAutoFit/>
          </a:bodyPr>
          <a:lstStyle/>
          <a:p>
            <a:pPr algn="ctr"/>
            <a:r>
              <a:rPr sz="2800" b="0" i="0">
                <a:solidFill>
                  <a:srgbClr val="EAE6DE"/>
                </a:solidFill>
                <a:latin typeface="Calibri"/>
              </a:rPr>
              <a:t>⚡</a:t>
            </a:r>
          </a:p>
        </p:txBody>
      </p:sp>
      <p:sp>
        <p:nvSpPr>
          <p:cNvPr id="19" name="TextBox 18"/>
          <p:cNvSpPr txBox="1"/>
          <p:nvPr/>
        </p:nvSpPr>
        <p:spPr>
          <a:xfrm>
            <a:off x="3538728" y="3840480"/>
            <a:ext cx="2432304" cy="457200"/>
          </a:xfrm>
          <a:prstGeom prst="rect">
            <a:avLst/>
          </a:prstGeom>
          <a:noFill/>
        </p:spPr>
        <p:txBody>
          <a:bodyPr wrap="square">
            <a:spAutoFit/>
          </a:bodyPr>
          <a:lstStyle/>
          <a:p>
            <a:pPr algn="ctr"/>
            <a:r>
              <a:rPr sz="1400" b="1" i="0">
                <a:solidFill>
                  <a:srgbClr val="EAE6DE"/>
                </a:solidFill>
                <a:latin typeface="Calibri"/>
              </a:rPr>
              <a:t>Zapier Triggers</a:t>
            </a:r>
          </a:p>
        </p:txBody>
      </p:sp>
      <p:sp>
        <p:nvSpPr>
          <p:cNvPr id="20" name="TextBox 19"/>
          <p:cNvSpPr txBox="1"/>
          <p:nvPr/>
        </p:nvSpPr>
        <p:spPr>
          <a:xfrm>
            <a:off x="3566160" y="4407408"/>
            <a:ext cx="2377440" cy="1536192"/>
          </a:xfrm>
          <a:prstGeom prst="rect">
            <a:avLst/>
          </a:prstGeom>
          <a:noFill/>
        </p:spPr>
        <p:txBody>
          <a:bodyPr wrap="square">
            <a:spAutoFit/>
          </a:bodyPr>
          <a:lstStyle/>
          <a:p>
            <a:pPr algn="ctr"/>
            <a:r>
              <a:rPr sz="1100" b="0" i="0">
                <a:solidFill>
                  <a:srgbClr val="8A877F"/>
                </a:solidFill>
                <a:latin typeface="Calibri"/>
              </a:rPr>
              <a:t>Zapier catches the lead instantly and fires the patient's details to Vapi — no human involvement needed.</a:t>
            </a:r>
          </a:p>
        </p:txBody>
      </p:sp>
      <p:sp>
        <p:nvSpPr>
          <p:cNvPr id="21" name="TextBox 20"/>
          <p:cNvSpPr txBox="1"/>
          <p:nvPr/>
        </p:nvSpPr>
        <p:spPr>
          <a:xfrm>
            <a:off x="6135624" y="3246120"/>
            <a:ext cx="274320" cy="457200"/>
          </a:xfrm>
          <a:prstGeom prst="rect">
            <a:avLst/>
          </a:prstGeom>
          <a:noFill/>
        </p:spPr>
        <p:txBody>
          <a:bodyPr wrap="square">
            <a:spAutoFit/>
          </a:bodyPr>
          <a:lstStyle/>
          <a:p>
            <a:pPr algn="ctr"/>
            <a:r>
              <a:rPr sz="2400" b="0" i="0">
                <a:solidFill>
                  <a:srgbClr val="C4A45A"/>
                </a:solidFill>
                <a:latin typeface="Calibri"/>
              </a:rPr>
              <a:t>›</a:t>
            </a:r>
          </a:p>
        </p:txBody>
      </p:sp>
      <p:sp>
        <p:nvSpPr>
          <p:cNvPr id="22" name="Rectangle 21"/>
          <p:cNvSpPr/>
          <p:nvPr/>
        </p:nvSpPr>
        <p:spPr>
          <a:xfrm>
            <a:off x="6446520" y="1828800"/>
            <a:ext cx="2651760" cy="4315968"/>
          </a:xfrm>
          <a:prstGeom prst="rect">
            <a:avLst/>
          </a:prstGeom>
          <a:solidFill>
            <a:srgbClr val="1A1C17"/>
          </a:solidFill>
          <a:ln w="9525">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46520" y="1828800"/>
            <a:ext cx="2651760" cy="64008"/>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406640" y="2057400"/>
            <a:ext cx="749808" cy="749808"/>
          </a:xfrm>
          <a:prstGeom prst="ellipse">
            <a:avLst/>
          </a:prstGeom>
          <a:solidFill>
            <a:srgbClr val="0B0C0A"/>
          </a:solidFill>
          <a:ln w="19050">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0" y="2084831"/>
            <a:ext cx="749808" cy="658368"/>
          </a:xfrm>
          <a:prstGeom prst="rect">
            <a:avLst/>
          </a:prstGeom>
          <a:noFill/>
        </p:spPr>
        <p:txBody>
          <a:bodyPr wrap="square">
            <a:spAutoFit/>
          </a:bodyPr>
          <a:lstStyle/>
          <a:p>
            <a:pPr algn="ctr"/>
            <a:r>
              <a:rPr sz="2400" b="1" i="0">
                <a:solidFill>
                  <a:srgbClr val="6B9E72"/>
                </a:solidFill>
                <a:latin typeface="Georgia"/>
              </a:rPr>
              <a:t>3</a:t>
            </a:r>
          </a:p>
        </p:txBody>
      </p:sp>
      <p:sp>
        <p:nvSpPr>
          <p:cNvPr id="26" name="TextBox 25"/>
          <p:cNvSpPr txBox="1"/>
          <p:nvPr/>
        </p:nvSpPr>
        <p:spPr>
          <a:xfrm>
            <a:off x="7452360" y="3035808"/>
            <a:ext cx="640080" cy="640080"/>
          </a:xfrm>
          <a:prstGeom prst="rect">
            <a:avLst/>
          </a:prstGeom>
          <a:noFill/>
        </p:spPr>
        <p:txBody>
          <a:bodyPr wrap="square">
            <a:spAutoFit/>
          </a:bodyPr>
          <a:lstStyle/>
          <a:p>
            <a:pPr algn="ctr"/>
            <a:r>
              <a:rPr sz="2800" b="0" i="0">
                <a:solidFill>
                  <a:srgbClr val="EAE6DE"/>
                </a:solidFill>
                <a:latin typeface="Calibri"/>
              </a:rPr>
              <a:t>📞</a:t>
            </a:r>
          </a:p>
        </p:txBody>
      </p:sp>
      <p:sp>
        <p:nvSpPr>
          <p:cNvPr id="27" name="TextBox 26"/>
          <p:cNvSpPr txBox="1"/>
          <p:nvPr/>
        </p:nvSpPr>
        <p:spPr>
          <a:xfrm>
            <a:off x="6556248" y="3840480"/>
            <a:ext cx="2432304" cy="457200"/>
          </a:xfrm>
          <a:prstGeom prst="rect">
            <a:avLst/>
          </a:prstGeom>
          <a:noFill/>
        </p:spPr>
        <p:txBody>
          <a:bodyPr wrap="square">
            <a:spAutoFit/>
          </a:bodyPr>
          <a:lstStyle/>
          <a:p>
            <a:pPr algn="ctr"/>
            <a:r>
              <a:rPr sz="1400" b="1" i="0">
                <a:solidFill>
                  <a:srgbClr val="EAE6DE"/>
                </a:solidFill>
                <a:latin typeface="Calibri"/>
              </a:rPr>
              <a:t>Ava Calls</a:t>
            </a:r>
          </a:p>
        </p:txBody>
      </p:sp>
      <p:sp>
        <p:nvSpPr>
          <p:cNvPr id="28" name="TextBox 27"/>
          <p:cNvSpPr txBox="1"/>
          <p:nvPr/>
        </p:nvSpPr>
        <p:spPr>
          <a:xfrm>
            <a:off x="6583680" y="4407408"/>
            <a:ext cx="2377440" cy="1536192"/>
          </a:xfrm>
          <a:prstGeom prst="rect">
            <a:avLst/>
          </a:prstGeom>
          <a:noFill/>
        </p:spPr>
        <p:txBody>
          <a:bodyPr wrap="square">
            <a:spAutoFit/>
          </a:bodyPr>
          <a:lstStyle/>
          <a:p>
            <a:pPr algn="ctr"/>
            <a:r>
              <a:rPr sz="1100" b="0" i="0">
                <a:solidFill>
                  <a:srgbClr val="8A877F"/>
                </a:solidFill>
                <a:latin typeface="Calibri"/>
              </a:rPr>
              <a:t>Ava calls the patient within seconds, greets them by name, and guides them warmly toward a consultation slot.</a:t>
            </a:r>
          </a:p>
        </p:txBody>
      </p:sp>
      <p:sp>
        <p:nvSpPr>
          <p:cNvPr id="29" name="TextBox 28"/>
          <p:cNvSpPr txBox="1"/>
          <p:nvPr/>
        </p:nvSpPr>
        <p:spPr>
          <a:xfrm>
            <a:off x="9153144" y="3246120"/>
            <a:ext cx="274320" cy="457200"/>
          </a:xfrm>
          <a:prstGeom prst="rect">
            <a:avLst/>
          </a:prstGeom>
          <a:noFill/>
        </p:spPr>
        <p:txBody>
          <a:bodyPr wrap="square">
            <a:spAutoFit/>
          </a:bodyPr>
          <a:lstStyle/>
          <a:p>
            <a:pPr algn="ctr"/>
            <a:r>
              <a:rPr sz="2400" b="0" i="0">
                <a:solidFill>
                  <a:srgbClr val="C4A45A"/>
                </a:solidFill>
                <a:latin typeface="Calibri"/>
              </a:rPr>
              <a:t>›</a:t>
            </a:r>
          </a:p>
        </p:txBody>
      </p:sp>
      <p:sp>
        <p:nvSpPr>
          <p:cNvPr id="30" name="Rectangle 29"/>
          <p:cNvSpPr/>
          <p:nvPr/>
        </p:nvSpPr>
        <p:spPr>
          <a:xfrm>
            <a:off x="9464039" y="1828800"/>
            <a:ext cx="2651760" cy="4315968"/>
          </a:xfrm>
          <a:prstGeom prst="rect">
            <a:avLst/>
          </a:prstGeom>
          <a:solidFill>
            <a:srgbClr val="1A1C17"/>
          </a:solidFill>
          <a:ln w="9525">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464039" y="1828800"/>
            <a:ext cx="2651760" cy="64008"/>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424159" y="2057400"/>
            <a:ext cx="749808" cy="749808"/>
          </a:xfrm>
          <a:prstGeom prst="ellipse">
            <a:avLst/>
          </a:prstGeom>
          <a:solidFill>
            <a:srgbClr val="0B0C0A"/>
          </a:solidFill>
          <a:ln w="190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424159" y="2084831"/>
            <a:ext cx="749808" cy="658368"/>
          </a:xfrm>
          <a:prstGeom prst="rect">
            <a:avLst/>
          </a:prstGeom>
          <a:noFill/>
        </p:spPr>
        <p:txBody>
          <a:bodyPr wrap="square">
            <a:spAutoFit/>
          </a:bodyPr>
          <a:lstStyle/>
          <a:p>
            <a:pPr algn="ctr"/>
            <a:r>
              <a:rPr sz="2400" b="1" i="0">
                <a:solidFill>
                  <a:srgbClr val="C4A45A"/>
                </a:solidFill>
                <a:latin typeface="Georgia"/>
              </a:rPr>
              <a:t>4</a:t>
            </a:r>
          </a:p>
        </p:txBody>
      </p:sp>
      <p:sp>
        <p:nvSpPr>
          <p:cNvPr id="34" name="TextBox 33"/>
          <p:cNvSpPr txBox="1"/>
          <p:nvPr/>
        </p:nvSpPr>
        <p:spPr>
          <a:xfrm>
            <a:off x="10469879" y="3035808"/>
            <a:ext cx="640080" cy="640080"/>
          </a:xfrm>
          <a:prstGeom prst="rect">
            <a:avLst/>
          </a:prstGeom>
          <a:noFill/>
        </p:spPr>
        <p:txBody>
          <a:bodyPr wrap="square">
            <a:spAutoFit/>
          </a:bodyPr>
          <a:lstStyle/>
          <a:p>
            <a:pPr algn="ctr"/>
            <a:r>
              <a:rPr sz="2800" b="0" i="0">
                <a:solidFill>
                  <a:srgbClr val="EAE6DE"/>
                </a:solidFill>
                <a:latin typeface="Calibri"/>
              </a:rPr>
              <a:t>📅</a:t>
            </a:r>
          </a:p>
        </p:txBody>
      </p:sp>
      <p:sp>
        <p:nvSpPr>
          <p:cNvPr id="35" name="TextBox 34"/>
          <p:cNvSpPr txBox="1"/>
          <p:nvPr/>
        </p:nvSpPr>
        <p:spPr>
          <a:xfrm>
            <a:off x="9573767" y="3840480"/>
            <a:ext cx="2432304" cy="457200"/>
          </a:xfrm>
          <a:prstGeom prst="rect">
            <a:avLst/>
          </a:prstGeom>
          <a:noFill/>
        </p:spPr>
        <p:txBody>
          <a:bodyPr wrap="square">
            <a:spAutoFit/>
          </a:bodyPr>
          <a:lstStyle/>
          <a:p>
            <a:pPr algn="ctr"/>
            <a:r>
              <a:rPr sz="1400" b="1" i="0">
                <a:solidFill>
                  <a:srgbClr val="EAE6DE"/>
                </a:solidFill>
                <a:latin typeface="Calibri"/>
              </a:rPr>
              <a:t>Booked in Semble</a:t>
            </a:r>
          </a:p>
        </p:txBody>
      </p:sp>
      <p:sp>
        <p:nvSpPr>
          <p:cNvPr id="36" name="TextBox 35"/>
          <p:cNvSpPr txBox="1"/>
          <p:nvPr/>
        </p:nvSpPr>
        <p:spPr>
          <a:xfrm>
            <a:off x="9601199" y="4407408"/>
            <a:ext cx="2377440" cy="1536192"/>
          </a:xfrm>
          <a:prstGeom prst="rect">
            <a:avLst/>
          </a:prstGeom>
          <a:noFill/>
        </p:spPr>
        <p:txBody>
          <a:bodyPr wrap="square">
            <a:spAutoFit/>
          </a:bodyPr>
          <a:lstStyle/>
          <a:p>
            <a:pPr algn="ctr"/>
            <a:r>
              <a:rPr sz="1100" b="0" i="0">
                <a:solidFill>
                  <a:srgbClr val="8A877F"/>
                </a:solidFill>
                <a:latin typeface="Calibri"/>
              </a:rPr>
              <a:t>Appointment confirmed. Ava logs the outcome and — where integrated — books directly into your Semble calendar.</a:t>
            </a:r>
          </a:p>
        </p:txBody>
      </p:sp>
      <p:sp>
        <p:nvSpPr>
          <p:cNvPr id="37" name="Rectangle 36"/>
          <p:cNvSpPr/>
          <p:nvPr/>
        </p:nvSpPr>
        <p:spPr>
          <a:xfrm>
            <a:off x="0" y="6565392"/>
            <a:ext cx="12188952" cy="292608"/>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6583680"/>
            <a:ext cx="11640312" cy="256032"/>
          </a:xfrm>
          <a:prstGeom prst="rect">
            <a:avLst/>
          </a:prstGeom>
          <a:noFill/>
        </p:spPr>
        <p:txBody>
          <a:bodyPr wrap="square">
            <a:spAutoFit/>
          </a:bodyPr>
          <a:lstStyle/>
          <a:p>
            <a:pPr algn="ctr"/>
            <a:r>
              <a:rPr sz="900" b="0" i="0">
                <a:solidFill>
                  <a:srgbClr val="8A877F"/>
                </a:solidFill>
                <a:latin typeface="Calibri"/>
              </a:rPr>
              <a:t>Powered by Vapi AI · Automated via Zapier · Semble calendar integration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347472"/>
          </a:xfrm>
          <a:prstGeom prst="rect">
            <a:avLst/>
          </a:prstGeom>
          <a:noFill/>
        </p:spPr>
        <p:txBody>
          <a:bodyPr wrap="square">
            <a:spAutoFit/>
          </a:bodyPr>
          <a:lstStyle/>
          <a:p>
            <a:pPr algn="l"/>
            <a:r>
              <a:rPr sz="1100" b="1" i="0">
                <a:solidFill>
                  <a:srgbClr val="C4A45A"/>
                </a:solidFill>
                <a:latin typeface="Calibri"/>
              </a:rPr>
              <a:t>T H E   C O N V E R S A T I O N</a:t>
            </a:r>
          </a:p>
        </p:txBody>
      </p:sp>
      <p:sp>
        <p:nvSpPr>
          <p:cNvPr id="5" name="TextBox 4"/>
          <p:cNvSpPr txBox="1"/>
          <p:nvPr/>
        </p:nvSpPr>
        <p:spPr>
          <a:xfrm>
            <a:off x="502920" y="621792"/>
            <a:ext cx="10789920" cy="914400"/>
          </a:xfrm>
          <a:prstGeom prst="rect">
            <a:avLst/>
          </a:prstGeom>
          <a:noFill/>
        </p:spPr>
        <p:txBody>
          <a:bodyPr wrap="square">
            <a:spAutoFit/>
          </a:bodyPr>
          <a:lstStyle/>
          <a:p>
            <a:pPr algn="l"/>
            <a:r>
              <a:rPr sz="3600" b="1" i="0">
                <a:solidFill>
                  <a:srgbClr val="FFFFFF"/>
                </a:solidFill>
                <a:latin typeface="Georgia"/>
              </a:rPr>
              <a:t>How Ava speaks to your patients</a:t>
            </a:r>
          </a:p>
        </p:txBody>
      </p:sp>
      <p:sp>
        <p:nvSpPr>
          <p:cNvPr id="6" name="Rectangle 5"/>
          <p:cNvSpPr/>
          <p:nvPr/>
        </p:nvSpPr>
        <p:spPr>
          <a:xfrm>
            <a:off x="411480" y="1737360"/>
            <a:ext cx="5760720" cy="768096"/>
          </a:xfrm>
          <a:prstGeom prst="rect">
            <a:avLst/>
          </a:prstGeom>
          <a:solidFill>
            <a:srgbClr val="1A1C17"/>
          </a:solidFill>
          <a:ln w="508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737360"/>
            <a:ext cx="54864" cy="768096"/>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5394960" cy="274320"/>
          </a:xfrm>
          <a:prstGeom prst="rect">
            <a:avLst/>
          </a:prstGeom>
          <a:noFill/>
        </p:spPr>
        <p:txBody>
          <a:bodyPr wrap="square">
            <a:spAutoFit/>
          </a:bodyPr>
          <a:lstStyle/>
          <a:p>
            <a:pPr algn="l"/>
            <a:r>
              <a:rPr sz="900" b="1" i="0">
                <a:solidFill>
                  <a:srgbClr val="C4A45A"/>
                </a:solidFill>
                <a:latin typeface="Calibri"/>
              </a:rPr>
              <a:t>1  OPENING</a:t>
            </a:r>
          </a:p>
        </p:txBody>
      </p:sp>
      <p:sp>
        <p:nvSpPr>
          <p:cNvPr id="9" name="TextBox 8"/>
          <p:cNvSpPr txBox="1"/>
          <p:nvPr/>
        </p:nvSpPr>
        <p:spPr>
          <a:xfrm>
            <a:off x="594360" y="2084831"/>
            <a:ext cx="5394960" cy="384048"/>
          </a:xfrm>
          <a:prstGeom prst="rect">
            <a:avLst/>
          </a:prstGeom>
          <a:noFill/>
        </p:spPr>
        <p:txBody>
          <a:bodyPr wrap="square">
            <a:spAutoFit/>
          </a:bodyPr>
          <a:lstStyle/>
          <a:p>
            <a:pPr algn="l"/>
            <a:r>
              <a:rPr sz="1100" b="0" i="0">
                <a:solidFill>
                  <a:srgbClr val="8A877F"/>
                </a:solidFill>
                <a:latin typeface="Calibri"/>
              </a:rPr>
              <a:t>States confidentiality. Greets patient by name. References their treatment interest.</a:t>
            </a:r>
          </a:p>
        </p:txBody>
      </p:sp>
      <p:sp>
        <p:nvSpPr>
          <p:cNvPr id="10" name="Rectangle 9"/>
          <p:cNvSpPr/>
          <p:nvPr/>
        </p:nvSpPr>
        <p:spPr>
          <a:xfrm>
            <a:off x="411480" y="2633472"/>
            <a:ext cx="5760720" cy="768096"/>
          </a:xfrm>
          <a:prstGeom prst="rect">
            <a:avLst/>
          </a:prstGeom>
          <a:solidFill>
            <a:srgbClr val="1A1C17"/>
          </a:solidFill>
          <a:ln w="508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633472"/>
            <a:ext cx="54864" cy="768096"/>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79191"/>
            <a:ext cx="5394960" cy="274320"/>
          </a:xfrm>
          <a:prstGeom prst="rect">
            <a:avLst/>
          </a:prstGeom>
          <a:noFill/>
        </p:spPr>
        <p:txBody>
          <a:bodyPr wrap="square">
            <a:spAutoFit/>
          </a:bodyPr>
          <a:lstStyle/>
          <a:p>
            <a:pPr algn="l"/>
            <a:r>
              <a:rPr sz="900" b="1" i="0">
                <a:solidFill>
                  <a:srgbClr val="C4A45A"/>
                </a:solidFill>
                <a:latin typeface="Calibri"/>
              </a:rPr>
              <a:t>2  QUALIFY</a:t>
            </a:r>
          </a:p>
        </p:txBody>
      </p:sp>
      <p:sp>
        <p:nvSpPr>
          <p:cNvPr id="13" name="TextBox 12"/>
          <p:cNvSpPr txBox="1"/>
          <p:nvPr/>
        </p:nvSpPr>
        <p:spPr>
          <a:xfrm>
            <a:off x="594360" y="2980944"/>
            <a:ext cx="5394960" cy="384048"/>
          </a:xfrm>
          <a:prstGeom prst="rect">
            <a:avLst/>
          </a:prstGeom>
          <a:noFill/>
        </p:spPr>
        <p:txBody>
          <a:bodyPr wrap="square">
            <a:spAutoFit/>
          </a:bodyPr>
          <a:lstStyle/>
          <a:p>
            <a:pPr algn="l"/>
            <a:r>
              <a:rPr sz="1100" b="0" i="0">
                <a:solidFill>
                  <a:srgbClr val="8A877F"/>
                </a:solidFill>
                <a:latin typeface="Calibri"/>
              </a:rPr>
              <a:t>Confirms interest. Offers two specific slots. Handles hesitance with empathy.</a:t>
            </a:r>
          </a:p>
        </p:txBody>
      </p:sp>
      <p:sp>
        <p:nvSpPr>
          <p:cNvPr id="14" name="Rectangle 13"/>
          <p:cNvSpPr/>
          <p:nvPr/>
        </p:nvSpPr>
        <p:spPr>
          <a:xfrm>
            <a:off x="411480" y="3529584"/>
            <a:ext cx="5760720" cy="768096"/>
          </a:xfrm>
          <a:prstGeom prst="rect">
            <a:avLst/>
          </a:prstGeom>
          <a:solidFill>
            <a:srgbClr val="1A1C17"/>
          </a:solidFill>
          <a:ln w="508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529584"/>
            <a:ext cx="54864" cy="768096"/>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575303"/>
            <a:ext cx="5394960" cy="274320"/>
          </a:xfrm>
          <a:prstGeom prst="rect">
            <a:avLst/>
          </a:prstGeom>
          <a:noFill/>
        </p:spPr>
        <p:txBody>
          <a:bodyPr wrap="square">
            <a:spAutoFit/>
          </a:bodyPr>
          <a:lstStyle/>
          <a:p>
            <a:pPr algn="l"/>
            <a:r>
              <a:rPr sz="900" b="1" i="0">
                <a:solidFill>
                  <a:srgbClr val="C4A45A"/>
                </a:solidFill>
                <a:latin typeface="Calibri"/>
              </a:rPr>
              <a:t>3  ANSWER FAQs</a:t>
            </a:r>
          </a:p>
        </p:txBody>
      </p:sp>
      <p:sp>
        <p:nvSpPr>
          <p:cNvPr id="17" name="TextBox 16"/>
          <p:cNvSpPr txBox="1"/>
          <p:nvPr/>
        </p:nvSpPr>
        <p:spPr>
          <a:xfrm>
            <a:off x="594360" y="3877056"/>
            <a:ext cx="5394960" cy="384048"/>
          </a:xfrm>
          <a:prstGeom prst="rect">
            <a:avLst/>
          </a:prstGeom>
          <a:noFill/>
        </p:spPr>
        <p:txBody>
          <a:bodyPr wrap="square">
            <a:spAutoFit/>
          </a:bodyPr>
          <a:lstStyle/>
          <a:p>
            <a:pPr algn="l"/>
            <a:r>
              <a:rPr sz="1100" b="0" i="0">
                <a:solidFill>
                  <a:srgbClr val="8A877F"/>
                </a:solidFill>
                <a:latin typeface="Calibri"/>
              </a:rPr>
              <a:t>Cost, recovery, procedure, pain, location (7 min from Bond St). Defers clinical to consultant.</a:t>
            </a:r>
          </a:p>
        </p:txBody>
      </p:sp>
      <p:sp>
        <p:nvSpPr>
          <p:cNvPr id="18" name="Rectangle 17"/>
          <p:cNvSpPr/>
          <p:nvPr/>
        </p:nvSpPr>
        <p:spPr>
          <a:xfrm>
            <a:off x="411480" y="4425696"/>
            <a:ext cx="5760720" cy="768096"/>
          </a:xfrm>
          <a:prstGeom prst="rect">
            <a:avLst/>
          </a:prstGeom>
          <a:solidFill>
            <a:srgbClr val="1A1C17"/>
          </a:solidFill>
          <a:ln w="508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4425696"/>
            <a:ext cx="54864" cy="768096"/>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471416"/>
            <a:ext cx="5394960" cy="274320"/>
          </a:xfrm>
          <a:prstGeom prst="rect">
            <a:avLst/>
          </a:prstGeom>
          <a:noFill/>
        </p:spPr>
        <p:txBody>
          <a:bodyPr wrap="square">
            <a:spAutoFit/>
          </a:bodyPr>
          <a:lstStyle/>
          <a:p>
            <a:pPr algn="l"/>
            <a:r>
              <a:rPr sz="900" b="1" i="0">
                <a:solidFill>
                  <a:srgbClr val="C4A45A"/>
                </a:solidFill>
                <a:latin typeface="Calibri"/>
              </a:rPr>
              <a:t>4  BOOK &amp; CONFIRM</a:t>
            </a:r>
          </a:p>
        </p:txBody>
      </p:sp>
      <p:sp>
        <p:nvSpPr>
          <p:cNvPr id="21" name="TextBox 20"/>
          <p:cNvSpPr txBox="1"/>
          <p:nvPr/>
        </p:nvSpPr>
        <p:spPr>
          <a:xfrm>
            <a:off x="594360" y="4773168"/>
            <a:ext cx="5394960" cy="384048"/>
          </a:xfrm>
          <a:prstGeom prst="rect">
            <a:avLst/>
          </a:prstGeom>
          <a:noFill/>
        </p:spPr>
        <p:txBody>
          <a:bodyPr wrap="square">
            <a:spAutoFit/>
          </a:bodyPr>
          <a:lstStyle/>
          <a:p>
            <a:pPr algn="l"/>
            <a:r>
              <a:rPr sz="1100" b="0" i="0">
                <a:solidFill>
                  <a:srgbClr val="8A877F"/>
                </a:solidFill>
                <a:latin typeface="Calibri"/>
              </a:rPr>
              <a:t>Confirms slot. Patient receives SMS and email. Outcome logged to CRM.</a:t>
            </a:r>
          </a:p>
        </p:txBody>
      </p:sp>
      <p:sp>
        <p:nvSpPr>
          <p:cNvPr id="22" name="Rectangle 21"/>
          <p:cNvSpPr/>
          <p:nvPr/>
        </p:nvSpPr>
        <p:spPr>
          <a:xfrm>
            <a:off x="411480" y="5321808"/>
            <a:ext cx="5760720" cy="768096"/>
          </a:xfrm>
          <a:prstGeom prst="rect">
            <a:avLst/>
          </a:prstGeom>
          <a:solidFill>
            <a:srgbClr val="1A1C17"/>
          </a:solidFill>
          <a:ln w="508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5321808"/>
            <a:ext cx="54864" cy="768096"/>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367528"/>
            <a:ext cx="5394960" cy="274320"/>
          </a:xfrm>
          <a:prstGeom prst="rect">
            <a:avLst/>
          </a:prstGeom>
          <a:noFill/>
        </p:spPr>
        <p:txBody>
          <a:bodyPr wrap="square">
            <a:spAutoFit/>
          </a:bodyPr>
          <a:lstStyle/>
          <a:p>
            <a:pPr algn="l"/>
            <a:r>
              <a:rPr sz="900" b="1" i="0">
                <a:solidFill>
                  <a:srgbClr val="C4A45A"/>
                </a:solidFill>
                <a:latin typeface="Calibri"/>
              </a:rPr>
              <a:t>5  AFTER HOURS</a:t>
            </a:r>
          </a:p>
        </p:txBody>
      </p:sp>
      <p:sp>
        <p:nvSpPr>
          <p:cNvPr id="25" name="TextBox 24"/>
          <p:cNvSpPr txBox="1"/>
          <p:nvPr/>
        </p:nvSpPr>
        <p:spPr>
          <a:xfrm>
            <a:off x="594360" y="5669280"/>
            <a:ext cx="5394960" cy="384048"/>
          </a:xfrm>
          <a:prstGeom prst="rect">
            <a:avLst/>
          </a:prstGeom>
          <a:noFill/>
        </p:spPr>
        <p:txBody>
          <a:bodyPr wrap="square">
            <a:spAutoFit/>
          </a:bodyPr>
          <a:lstStyle/>
          <a:p>
            <a:pPr algn="l"/>
            <a:r>
              <a:rPr sz="1100" b="0" i="0">
                <a:solidFill>
                  <a:srgbClr val="8A877F"/>
                </a:solidFill>
                <a:latin typeface="Calibri"/>
              </a:rPr>
              <a:t>Leaves professional voicemail if unanswered. Zapier flags for morning follow-up.</a:t>
            </a:r>
          </a:p>
        </p:txBody>
      </p:sp>
      <p:sp>
        <p:nvSpPr>
          <p:cNvPr id="26" name="Rectangle 25"/>
          <p:cNvSpPr/>
          <p:nvPr/>
        </p:nvSpPr>
        <p:spPr>
          <a:xfrm>
            <a:off x="6492240" y="1737360"/>
            <a:ext cx="5230368" cy="4645152"/>
          </a:xfrm>
          <a:prstGeom prst="rect">
            <a:avLst/>
          </a:prstGeom>
          <a:solidFill>
            <a:srgbClr val="1A1C17"/>
          </a:solidFill>
          <a:ln w="9525">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1828800"/>
            <a:ext cx="4846320" cy="365760"/>
          </a:xfrm>
          <a:prstGeom prst="rect">
            <a:avLst/>
          </a:prstGeom>
          <a:noFill/>
        </p:spPr>
        <p:txBody>
          <a:bodyPr wrap="square">
            <a:spAutoFit/>
          </a:bodyPr>
          <a:lstStyle/>
          <a:p>
            <a:pPr algn="l"/>
            <a:r>
              <a:rPr sz="1100" b="1" i="0">
                <a:solidFill>
                  <a:srgbClr val="E2CFA0"/>
                </a:solidFill>
                <a:latin typeface="Calibri"/>
              </a:rPr>
              <a:t>Sample — Fraxel Enquiry (Sunday 9PM)</a:t>
            </a:r>
          </a:p>
        </p:txBody>
      </p:sp>
      <p:sp>
        <p:nvSpPr>
          <p:cNvPr id="28" name="TextBox 27"/>
          <p:cNvSpPr txBox="1"/>
          <p:nvPr/>
        </p:nvSpPr>
        <p:spPr>
          <a:xfrm>
            <a:off x="6675120" y="2331720"/>
            <a:ext cx="914400" cy="256032"/>
          </a:xfrm>
          <a:prstGeom prst="rect">
            <a:avLst/>
          </a:prstGeom>
          <a:noFill/>
        </p:spPr>
        <p:txBody>
          <a:bodyPr wrap="square">
            <a:spAutoFit/>
          </a:bodyPr>
          <a:lstStyle/>
          <a:p>
            <a:pPr algn="l"/>
            <a:r>
              <a:rPr sz="850" b="1" i="0">
                <a:solidFill>
                  <a:srgbClr val="C4A45A"/>
                </a:solidFill>
                <a:latin typeface="Calibri"/>
              </a:rPr>
              <a:t>AVA:</a:t>
            </a:r>
          </a:p>
        </p:txBody>
      </p:sp>
      <p:sp>
        <p:nvSpPr>
          <p:cNvPr id="29" name="TextBox 28"/>
          <p:cNvSpPr txBox="1"/>
          <p:nvPr/>
        </p:nvSpPr>
        <p:spPr>
          <a:xfrm>
            <a:off x="6675120" y="2569463"/>
            <a:ext cx="4864608" cy="384048"/>
          </a:xfrm>
          <a:prstGeom prst="rect">
            <a:avLst/>
          </a:prstGeom>
          <a:noFill/>
        </p:spPr>
        <p:txBody>
          <a:bodyPr wrap="square">
            <a:spAutoFit/>
          </a:bodyPr>
          <a:lstStyle/>
          <a:p>
            <a:pPr algn="l"/>
            <a:r>
              <a:rPr sz="1050" b="0" i="0">
                <a:solidFill>
                  <a:srgbClr val="EAE6DE"/>
                </a:solidFill>
                <a:latin typeface="Calibri"/>
              </a:rPr>
              <a:t>Good evening — Ava from The London Dermatology Centre. All confidential. You enquired about Fraxel — still interested?</a:t>
            </a:r>
          </a:p>
        </p:txBody>
      </p:sp>
      <p:sp>
        <p:nvSpPr>
          <p:cNvPr id="30" name="TextBox 29"/>
          <p:cNvSpPr txBox="1"/>
          <p:nvPr/>
        </p:nvSpPr>
        <p:spPr>
          <a:xfrm>
            <a:off x="6675120" y="2990087"/>
            <a:ext cx="914400" cy="256032"/>
          </a:xfrm>
          <a:prstGeom prst="rect">
            <a:avLst/>
          </a:prstGeom>
          <a:noFill/>
        </p:spPr>
        <p:txBody>
          <a:bodyPr wrap="square">
            <a:spAutoFit/>
          </a:bodyPr>
          <a:lstStyle/>
          <a:p>
            <a:pPr algn="l"/>
            <a:r>
              <a:rPr sz="850" b="1" i="0">
                <a:solidFill>
                  <a:srgbClr val="A8C9AC"/>
                </a:solidFill>
                <a:latin typeface="Calibri"/>
              </a:rPr>
              <a:t>PATIENT:</a:t>
            </a:r>
          </a:p>
        </p:txBody>
      </p:sp>
      <p:sp>
        <p:nvSpPr>
          <p:cNvPr id="31" name="TextBox 30"/>
          <p:cNvSpPr txBox="1"/>
          <p:nvPr/>
        </p:nvSpPr>
        <p:spPr>
          <a:xfrm>
            <a:off x="6675120" y="3227831"/>
            <a:ext cx="4864608" cy="384048"/>
          </a:xfrm>
          <a:prstGeom prst="rect">
            <a:avLst/>
          </a:prstGeom>
          <a:noFill/>
        </p:spPr>
        <p:txBody>
          <a:bodyPr wrap="square">
            <a:spAutoFit/>
          </a:bodyPr>
          <a:lstStyle/>
          <a:p>
            <a:pPr algn="l"/>
            <a:r>
              <a:rPr sz="1050" b="0" i="1">
                <a:solidFill>
                  <a:srgbClr val="8A877F"/>
                </a:solidFill>
                <a:latin typeface="Calibri"/>
              </a:rPr>
              <a:t>Yes! I was just browsing. Is it painful?</a:t>
            </a:r>
          </a:p>
        </p:txBody>
      </p:sp>
      <p:sp>
        <p:nvSpPr>
          <p:cNvPr id="32" name="TextBox 31"/>
          <p:cNvSpPr txBox="1"/>
          <p:nvPr/>
        </p:nvSpPr>
        <p:spPr>
          <a:xfrm>
            <a:off x="6675120" y="3648456"/>
            <a:ext cx="914400" cy="256032"/>
          </a:xfrm>
          <a:prstGeom prst="rect">
            <a:avLst/>
          </a:prstGeom>
          <a:noFill/>
        </p:spPr>
        <p:txBody>
          <a:bodyPr wrap="square">
            <a:spAutoFit/>
          </a:bodyPr>
          <a:lstStyle/>
          <a:p>
            <a:pPr algn="l"/>
            <a:r>
              <a:rPr sz="850" b="1" i="0">
                <a:solidFill>
                  <a:srgbClr val="C4A45A"/>
                </a:solidFill>
                <a:latin typeface="Calibri"/>
              </a:rPr>
              <a:t>AVA:</a:t>
            </a:r>
          </a:p>
        </p:txBody>
      </p:sp>
      <p:sp>
        <p:nvSpPr>
          <p:cNvPr id="33" name="TextBox 32"/>
          <p:cNvSpPr txBox="1"/>
          <p:nvPr/>
        </p:nvSpPr>
        <p:spPr>
          <a:xfrm>
            <a:off x="6675120" y="3886200"/>
            <a:ext cx="4864608" cy="384048"/>
          </a:xfrm>
          <a:prstGeom prst="rect">
            <a:avLst/>
          </a:prstGeom>
          <a:noFill/>
        </p:spPr>
        <p:txBody>
          <a:bodyPr wrap="square">
            <a:spAutoFit/>
          </a:bodyPr>
          <a:lstStyle/>
          <a:p>
            <a:pPr algn="l"/>
            <a:r>
              <a:rPr sz="1050" b="0" i="0">
                <a:solidFill>
                  <a:srgbClr val="EAE6DE"/>
                </a:solidFill>
                <a:latin typeface="Calibri"/>
              </a:rPr>
              <a:t>Most patients report only mild warmth during the procedure — our consultants discuss your exact comfort plan at consultation. The consultation is complimentary. Shall I book you in?</a:t>
            </a:r>
          </a:p>
        </p:txBody>
      </p:sp>
      <p:sp>
        <p:nvSpPr>
          <p:cNvPr id="34" name="TextBox 33"/>
          <p:cNvSpPr txBox="1"/>
          <p:nvPr/>
        </p:nvSpPr>
        <p:spPr>
          <a:xfrm>
            <a:off x="6675120" y="4306824"/>
            <a:ext cx="914400" cy="256032"/>
          </a:xfrm>
          <a:prstGeom prst="rect">
            <a:avLst/>
          </a:prstGeom>
          <a:noFill/>
        </p:spPr>
        <p:txBody>
          <a:bodyPr wrap="square">
            <a:spAutoFit/>
          </a:bodyPr>
          <a:lstStyle/>
          <a:p>
            <a:pPr algn="l"/>
            <a:r>
              <a:rPr sz="850" b="1" i="0">
                <a:solidFill>
                  <a:srgbClr val="A8C9AC"/>
                </a:solidFill>
                <a:latin typeface="Calibri"/>
              </a:rPr>
              <a:t>PATIENT:</a:t>
            </a:r>
          </a:p>
        </p:txBody>
      </p:sp>
      <p:sp>
        <p:nvSpPr>
          <p:cNvPr id="35" name="TextBox 34"/>
          <p:cNvSpPr txBox="1"/>
          <p:nvPr/>
        </p:nvSpPr>
        <p:spPr>
          <a:xfrm>
            <a:off x="6675120" y="4544568"/>
            <a:ext cx="4864608" cy="384048"/>
          </a:xfrm>
          <a:prstGeom prst="rect">
            <a:avLst/>
          </a:prstGeom>
          <a:noFill/>
        </p:spPr>
        <p:txBody>
          <a:bodyPr wrap="square">
            <a:spAutoFit/>
          </a:bodyPr>
          <a:lstStyle/>
          <a:p>
            <a:pPr algn="l"/>
            <a:r>
              <a:rPr sz="1050" b="0" i="1">
                <a:solidFill>
                  <a:srgbClr val="8A877F"/>
                </a:solidFill>
                <a:latin typeface="Calibri"/>
              </a:rPr>
              <a:t>Yes, what times do you have?</a:t>
            </a:r>
          </a:p>
        </p:txBody>
      </p:sp>
      <p:sp>
        <p:nvSpPr>
          <p:cNvPr id="36" name="TextBox 35"/>
          <p:cNvSpPr txBox="1"/>
          <p:nvPr/>
        </p:nvSpPr>
        <p:spPr>
          <a:xfrm>
            <a:off x="6675120" y="4965192"/>
            <a:ext cx="914400" cy="256032"/>
          </a:xfrm>
          <a:prstGeom prst="rect">
            <a:avLst/>
          </a:prstGeom>
          <a:noFill/>
        </p:spPr>
        <p:txBody>
          <a:bodyPr wrap="square">
            <a:spAutoFit/>
          </a:bodyPr>
          <a:lstStyle/>
          <a:p>
            <a:pPr algn="l"/>
            <a:r>
              <a:rPr sz="850" b="1" i="0">
                <a:solidFill>
                  <a:srgbClr val="C4A45A"/>
                </a:solidFill>
                <a:latin typeface="Calibri"/>
              </a:rPr>
              <a:t>AVA:</a:t>
            </a:r>
          </a:p>
        </p:txBody>
      </p:sp>
      <p:sp>
        <p:nvSpPr>
          <p:cNvPr id="37" name="TextBox 36"/>
          <p:cNvSpPr txBox="1"/>
          <p:nvPr/>
        </p:nvSpPr>
        <p:spPr>
          <a:xfrm>
            <a:off x="6675120" y="5202936"/>
            <a:ext cx="4864608" cy="384048"/>
          </a:xfrm>
          <a:prstGeom prst="rect">
            <a:avLst/>
          </a:prstGeom>
          <a:noFill/>
        </p:spPr>
        <p:txBody>
          <a:bodyPr wrap="square">
            <a:spAutoFit/>
          </a:bodyPr>
          <a:lstStyle/>
          <a:p>
            <a:pPr algn="l"/>
            <a:r>
              <a:rPr sz="1050" b="0" i="0">
                <a:solidFill>
                  <a:srgbClr val="EAE6DE"/>
                </a:solidFill>
                <a:latin typeface="Calibri"/>
              </a:rPr>
              <a:t>I have Tuesday at 2PM or Thursday at 11AM. Which suits?</a:t>
            </a:r>
          </a:p>
        </p:txBody>
      </p:sp>
      <p:sp>
        <p:nvSpPr>
          <p:cNvPr id="38" name="TextBox 37"/>
          <p:cNvSpPr txBox="1"/>
          <p:nvPr/>
        </p:nvSpPr>
        <p:spPr>
          <a:xfrm>
            <a:off x="6675120" y="5623559"/>
            <a:ext cx="914400" cy="256032"/>
          </a:xfrm>
          <a:prstGeom prst="rect">
            <a:avLst/>
          </a:prstGeom>
          <a:noFill/>
        </p:spPr>
        <p:txBody>
          <a:bodyPr wrap="square">
            <a:spAutoFit/>
          </a:bodyPr>
          <a:lstStyle/>
          <a:p>
            <a:pPr algn="l"/>
            <a:r>
              <a:rPr sz="850" b="1" i="0">
                <a:solidFill>
                  <a:srgbClr val="A8C9AC"/>
                </a:solidFill>
                <a:latin typeface="Calibri"/>
              </a:rPr>
              <a:t>PATIENT:</a:t>
            </a:r>
          </a:p>
        </p:txBody>
      </p:sp>
      <p:sp>
        <p:nvSpPr>
          <p:cNvPr id="39" name="TextBox 38"/>
          <p:cNvSpPr txBox="1"/>
          <p:nvPr/>
        </p:nvSpPr>
        <p:spPr>
          <a:xfrm>
            <a:off x="6675120" y="5861303"/>
            <a:ext cx="4864608" cy="384048"/>
          </a:xfrm>
          <a:prstGeom prst="rect">
            <a:avLst/>
          </a:prstGeom>
          <a:noFill/>
        </p:spPr>
        <p:txBody>
          <a:bodyPr wrap="square">
            <a:spAutoFit/>
          </a:bodyPr>
          <a:lstStyle/>
          <a:p>
            <a:pPr algn="l"/>
            <a:r>
              <a:rPr sz="1050" b="0" i="1">
                <a:solidFill>
                  <a:srgbClr val="8A877F"/>
                </a:solidFill>
                <a:latin typeface="Calibri"/>
              </a:rPr>
              <a:t>Thursday works.</a:t>
            </a:r>
          </a:p>
        </p:txBody>
      </p:sp>
      <p:sp>
        <p:nvSpPr>
          <p:cNvPr id="40" name="TextBox 39"/>
          <p:cNvSpPr txBox="1"/>
          <p:nvPr/>
        </p:nvSpPr>
        <p:spPr>
          <a:xfrm>
            <a:off x="6675120" y="6281928"/>
            <a:ext cx="914400" cy="256032"/>
          </a:xfrm>
          <a:prstGeom prst="rect">
            <a:avLst/>
          </a:prstGeom>
          <a:noFill/>
        </p:spPr>
        <p:txBody>
          <a:bodyPr wrap="square">
            <a:spAutoFit/>
          </a:bodyPr>
          <a:lstStyle/>
          <a:p>
            <a:pPr algn="l"/>
            <a:r>
              <a:rPr sz="850" b="1" i="0">
                <a:solidFill>
                  <a:srgbClr val="C4A45A"/>
                </a:solidFill>
                <a:latin typeface="Calibri"/>
              </a:rPr>
              <a:t>AVA:</a:t>
            </a:r>
          </a:p>
        </p:txBody>
      </p:sp>
      <p:sp>
        <p:nvSpPr>
          <p:cNvPr id="41" name="TextBox 40"/>
          <p:cNvSpPr txBox="1"/>
          <p:nvPr/>
        </p:nvSpPr>
        <p:spPr>
          <a:xfrm>
            <a:off x="6675120" y="6519672"/>
            <a:ext cx="4864608" cy="384048"/>
          </a:xfrm>
          <a:prstGeom prst="rect">
            <a:avLst/>
          </a:prstGeom>
          <a:noFill/>
        </p:spPr>
        <p:txBody>
          <a:bodyPr wrap="square">
            <a:spAutoFit/>
          </a:bodyPr>
          <a:lstStyle/>
          <a:p>
            <a:pPr algn="l"/>
            <a:r>
              <a:rPr sz="1050" b="0" i="0">
                <a:solidFill>
                  <a:srgbClr val="EAE6DE"/>
                </a:solidFill>
                <a:latin typeface="Calibri"/>
              </a:rPr>
              <a:t>Thursday 11AM confirmed. You'll receive an SMS shortly. We look forward to welcoming you to Wimpole Street.</a:t>
            </a:r>
          </a:p>
        </p:txBody>
      </p:sp>
      <p:sp>
        <p:nvSpPr>
          <p:cNvPr id="42" name="Rectangle 41"/>
          <p:cNvSpPr/>
          <p:nvPr/>
        </p:nvSpPr>
        <p:spPr>
          <a:xfrm>
            <a:off x="0" y="6565392"/>
            <a:ext cx="12188952" cy="292608"/>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4320" y="6583680"/>
            <a:ext cx="11640312" cy="256032"/>
          </a:xfrm>
          <a:prstGeom prst="rect">
            <a:avLst/>
          </a:prstGeom>
          <a:noFill/>
        </p:spPr>
        <p:txBody>
          <a:bodyPr wrap="square">
            <a:spAutoFit/>
          </a:bodyPr>
          <a:lstStyle/>
          <a:p>
            <a:pPr algn="ctr"/>
            <a:r>
              <a:rPr sz="900" b="0" i="0">
                <a:solidFill>
                  <a:srgbClr val="8A877F"/>
                </a:solidFill>
                <a:latin typeface="Calibri"/>
              </a:rPr>
              <a:t>Confidentiality stated on every call · Clinical questions always deferred to GMC-registered consultants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315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9144000" cy="347472"/>
          </a:xfrm>
          <a:prstGeom prst="rect">
            <a:avLst/>
          </a:prstGeom>
          <a:noFill/>
        </p:spPr>
        <p:txBody>
          <a:bodyPr wrap="square">
            <a:spAutoFit/>
          </a:bodyPr>
          <a:lstStyle/>
          <a:p>
            <a:pPr algn="l"/>
            <a:r>
              <a:rPr sz="1100" b="1" i="0">
                <a:solidFill>
                  <a:srgbClr val="6B9E72"/>
                </a:solidFill>
                <a:latin typeface="Calibri"/>
              </a:rPr>
              <a:t>T H E   R E T U R N</a:t>
            </a:r>
          </a:p>
        </p:txBody>
      </p:sp>
      <p:sp>
        <p:nvSpPr>
          <p:cNvPr id="5" name="TextBox 4"/>
          <p:cNvSpPr txBox="1"/>
          <p:nvPr/>
        </p:nvSpPr>
        <p:spPr>
          <a:xfrm>
            <a:off x="502920" y="621792"/>
            <a:ext cx="10789920" cy="914400"/>
          </a:xfrm>
          <a:prstGeom prst="rect">
            <a:avLst/>
          </a:prstGeom>
          <a:noFill/>
        </p:spPr>
        <p:txBody>
          <a:bodyPr wrap="square">
            <a:spAutoFit/>
          </a:bodyPr>
          <a:lstStyle/>
          <a:p>
            <a:pPr algn="l"/>
            <a:r>
              <a:rPr sz="3600" b="1" i="0">
                <a:solidFill>
                  <a:srgbClr val="FFFFFF"/>
                </a:solidFill>
                <a:latin typeface="Georgia"/>
              </a:rPr>
              <a:t>The business case — in your numbers</a:t>
            </a:r>
          </a:p>
        </p:txBody>
      </p:sp>
      <p:sp>
        <p:nvSpPr>
          <p:cNvPr id="6" name="Rectangle 5"/>
          <p:cNvSpPr/>
          <p:nvPr/>
        </p:nvSpPr>
        <p:spPr>
          <a:xfrm>
            <a:off x="411480" y="1691640"/>
            <a:ext cx="2724912" cy="2121408"/>
          </a:xfrm>
          <a:prstGeom prst="rect">
            <a:avLst/>
          </a:prstGeom>
          <a:solidFill>
            <a:srgbClr val="1A1C17"/>
          </a:solidFill>
          <a:ln w="9525">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691640"/>
            <a:ext cx="2724912" cy="64008"/>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810512"/>
            <a:ext cx="2505456" cy="685800"/>
          </a:xfrm>
          <a:prstGeom prst="rect">
            <a:avLst/>
          </a:prstGeom>
          <a:noFill/>
        </p:spPr>
        <p:txBody>
          <a:bodyPr wrap="square">
            <a:spAutoFit/>
          </a:bodyPr>
          <a:lstStyle/>
          <a:p>
            <a:pPr algn="ctr"/>
            <a:r>
              <a:rPr sz="3400" b="1" i="0">
                <a:solidFill>
                  <a:srgbClr val="C4A45A"/>
                </a:solidFill>
                <a:latin typeface="Georgia"/>
              </a:rPr>
              <a:t>25–35%</a:t>
            </a:r>
          </a:p>
        </p:txBody>
      </p:sp>
      <p:sp>
        <p:nvSpPr>
          <p:cNvPr id="9" name="TextBox 8"/>
          <p:cNvSpPr txBox="1"/>
          <p:nvPr/>
        </p:nvSpPr>
        <p:spPr>
          <a:xfrm>
            <a:off x="521208" y="2523744"/>
            <a:ext cx="2505456" cy="320040"/>
          </a:xfrm>
          <a:prstGeom prst="rect">
            <a:avLst/>
          </a:prstGeom>
          <a:noFill/>
        </p:spPr>
        <p:txBody>
          <a:bodyPr wrap="square">
            <a:spAutoFit/>
          </a:bodyPr>
          <a:lstStyle/>
          <a:p>
            <a:pPr algn="ctr"/>
            <a:r>
              <a:rPr sz="950" b="1" i="0">
                <a:solidFill>
                  <a:srgbClr val="EAE6DE"/>
                </a:solidFill>
                <a:latin typeface="Calibri"/>
              </a:rPr>
              <a:t>CONVERSION RATE</a:t>
            </a:r>
          </a:p>
        </p:txBody>
      </p:sp>
      <p:sp>
        <p:nvSpPr>
          <p:cNvPr id="10" name="TextBox 9"/>
          <p:cNvSpPr txBox="1"/>
          <p:nvPr/>
        </p:nvSpPr>
        <p:spPr>
          <a:xfrm>
            <a:off x="521208" y="2871216"/>
            <a:ext cx="2505456" cy="658368"/>
          </a:xfrm>
          <a:prstGeom prst="rect">
            <a:avLst/>
          </a:prstGeom>
          <a:noFill/>
        </p:spPr>
        <p:txBody>
          <a:bodyPr wrap="square">
            <a:spAutoFit/>
          </a:bodyPr>
          <a:lstStyle/>
          <a:p>
            <a:pPr algn="ctr"/>
            <a:r>
              <a:rPr sz="1100" b="0" i="0">
                <a:solidFill>
                  <a:srgbClr val="8A877F"/>
                </a:solidFill>
                <a:latin typeface="Calibri"/>
              </a:rPr>
              <a:t>Ad lead to booked consultation</a:t>
            </a:r>
          </a:p>
        </p:txBody>
      </p:sp>
      <p:sp>
        <p:nvSpPr>
          <p:cNvPr id="11" name="Rectangle 10"/>
          <p:cNvSpPr/>
          <p:nvPr/>
        </p:nvSpPr>
        <p:spPr>
          <a:xfrm>
            <a:off x="3401568" y="1691640"/>
            <a:ext cx="2724912" cy="2121408"/>
          </a:xfrm>
          <a:prstGeom prst="rect">
            <a:avLst/>
          </a:prstGeom>
          <a:solidFill>
            <a:srgbClr val="1A1C17"/>
          </a:solidFill>
          <a:ln w="9525">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01568" y="1691640"/>
            <a:ext cx="2724912" cy="64008"/>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11296" y="1810512"/>
            <a:ext cx="2505456" cy="685800"/>
          </a:xfrm>
          <a:prstGeom prst="rect">
            <a:avLst/>
          </a:prstGeom>
          <a:noFill/>
        </p:spPr>
        <p:txBody>
          <a:bodyPr wrap="square">
            <a:spAutoFit/>
          </a:bodyPr>
          <a:lstStyle/>
          <a:p>
            <a:pPr algn="ctr"/>
            <a:r>
              <a:rPr sz="3400" b="1" i="0">
                <a:solidFill>
                  <a:srgbClr val="C4A45A"/>
                </a:solidFill>
                <a:latin typeface="Georgia"/>
              </a:rPr>
              <a:t>&lt; 10s</a:t>
            </a:r>
          </a:p>
        </p:txBody>
      </p:sp>
      <p:sp>
        <p:nvSpPr>
          <p:cNvPr id="14" name="TextBox 13"/>
          <p:cNvSpPr txBox="1"/>
          <p:nvPr/>
        </p:nvSpPr>
        <p:spPr>
          <a:xfrm>
            <a:off x="3511296" y="2523744"/>
            <a:ext cx="2505456" cy="320040"/>
          </a:xfrm>
          <a:prstGeom prst="rect">
            <a:avLst/>
          </a:prstGeom>
          <a:noFill/>
        </p:spPr>
        <p:txBody>
          <a:bodyPr wrap="square">
            <a:spAutoFit/>
          </a:bodyPr>
          <a:lstStyle/>
          <a:p>
            <a:pPr algn="ctr"/>
            <a:r>
              <a:rPr sz="950" b="1" i="0">
                <a:solidFill>
                  <a:srgbClr val="EAE6DE"/>
                </a:solidFill>
                <a:latin typeface="Calibri"/>
              </a:rPr>
              <a:t>RESPONSE TIME</a:t>
            </a:r>
          </a:p>
        </p:txBody>
      </p:sp>
      <p:sp>
        <p:nvSpPr>
          <p:cNvPr id="15" name="TextBox 14"/>
          <p:cNvSpPr txBox="1"/>
          <p:nvPr/>
        </p:nvSpPr>
        <p:spPr>
          <a:xfrm>
            <a:off x="3511296" y="2871216"/>
            <a:ext cx="2505456" cy="658368"/>
          </a:xfrm>
          <a:prstGeom prst="rect">
            <a:avLst/>
          </a:prstGeom>
          <a:noFill/>
        </p:spPr>
        <p:txBody>
          <a:bodyPr wrap="square">
            <a:spAutoFit/>
          </a:bodyPr>
          <a:lstStyle/>
          <a:p>
            <a:pPr algn="ctr"/>
            <a:r>
              <a:rPr sz="1100" b="0" i="0">
                <a:solidFill>
                  <a:srgbClr val="8A877F"/>
                </a:solidFill>
                <a:latin typeface="Calibri"/>
              </a:rPr>
              <a:t>From enquiry to Ava calling</a:t>
            </a:r>
          </a:p>
        </p:txBody>
      </p:sp>
      <p:sp>
        <p:nvSpPr>
          <p:cNvPr id="16" name="Rectangle 15"/>
          <p:cNvSpPr/>
          <p:nvPr/>
        </p:nvSpPr>
        <p:spPr>
          <a:xfrm>
            <a:off x="6391656" y="1691640"/>
            <a:ext cx="2724912" cy="2121408"/>
          </a:xfrm>
          <a:prstGeom prst="rect">
            <a:avLst/>
          </a:prstGeom>
          <a:solidFill>
            <a:srgbClr val="1A1C17"/>
          </a:solidFill>
          <a:ln w="9525">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91656" y="1691640"/>
            <a:ext cx="2724912" cy="64008"/>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4" y="1810512"/>
            <a:ext cx="2505456" cy="685800"/>
          </a:xfrm>
          <a:prstGeom prst="rect">
            <a:avLst/>
          </a:prstGeom>
          <a:noFill/>
        </p:spPr>
        <p:txBody>
          <a:bodyPr wrap="square">
            <a:spAutoFit/>
          </a:bodyPr>
          <a:lstStyle/>
          <a:p>
            <a:pPr algn="ctr"/>
            <a:r>
              <a:rPr sz="3400" b="1" i="0">
                <a:solidFill>
                  <a:srgbClr val="C4A45A"/>
                </a:solidFill>
                <a:latin typeface="Georgia"/>
              </a:rPr>
              <a:t>100%</a:t>
            </a:r>
          </a:p>
        </p:txBody>
      </p:sp>
      <p:sp>
        <p:nvSpPr>
          <p:cNvPr id="19" name="TextBox 18"/>
          <p:cNvSpPr txBox="1"/>
          <p:nvPr/>
        </p:nvSpPr>
        <p:spPr>
          <a:xfrm>
            <a:off x="6501384" y="2523744"/>
            <a:ext cx="2505456" cy="320040"/>
          </a:xfrm>
          <a:prstGeom prst="rect">
            <a:avLst/>
          </a:prstGeom>
          <a:noFill/>
        </p:spPr>
        <p:txBody>
          <a:bodyPr wrap="square">
            <a:spAutoFit/>
          </a:bodyPr>
          <a:lstStyle/>
          <a:p>
            <a:pPr algn="ctr"/>
            <a:r>
              <a:rPr sz="950" b="1" i="0">
                <a:solidFill>
                  <a:srgbClr val="EAE6DE"/>
                </a:solidFill>
                <a:latin typeface="Calibri"/>
              </a:rPr>
              <a:t>LEADS CAPTURED</a:t>
            </a:r>
          </a:p>
        </p:txBody>
      </p:sp>
      <p:sp>
        <p:nvSpPr>
          <p:cNvPr id="20" name="TextBox 19"/>
          <p:cNvSpPr txBox="1"/>
          <p:nvPr/>
        </p:nvSpPr>
        <p:spPr>
          <a:xfrm>
            <a:off x="6501384" y="2871216"/>
            <a:ext cx="2505456" cy="658368"/>
          </a:xfrm>
          <a:prstGeom prst="rect">
            <a:avLst/>
          </a:prstGeom>
          <a:noFill/>
        </p:spPr>
        <p:txBody>
          <a:bodyPr wrap="square">
            <a:spAutoFit/>
          </a:bodyPr>
          <a:lstStyle/>
          <a:p>
            <a:pPr algn="ctr"/>
            <a:r>
              <a:rPr sz="1100" b="0" i="0">
                <a:solidFill>
                  <a:srgbClr val="8A877F"/>
                </a:solidFill>
                <a:latin typeface="Calibri"/>
              </a:rPr>
              <a:t>Including out-of-hours &amp; weekends</a:t>
            </a:r>
          </a:p>
        </p:txBody>
      </p:sp>
      <p:sp>
        <p:nvSpPr>
          <p:cNvPr id="21" name="Rectangle 20"/>
          <p:cNvSpPr/>
          <p:nvPr/>
        </p:nvSpPr>
        <p:spPr>
          <a:xfrm>
            <a:off x="9381744" y="1691640"/>
            <a:ext cx="2724912" cy="2121408"/>
          </a:xfrm>
          <a:prstGeom prst="rect">
            <a:avLst/>
          </a:prstGeom>
          <a:solidFill>
            <a:srgbClr val="1A1C17"/>
          </a:solidFill>
          <a:ln w="9525">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81744" y="1691640"/>
            <a:ext cx="2724912" cy="64008"/>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91472" y="1810512"/>
            <a:ext cx="2505456" cy="685800"/>
          </a:xfrm>
          <a:prstGeom prst="rect">
            <a:avLst/>
          </a:prstGeom>
          <a:noFill/>
        </p:spPr>
        <p:txBody>
          <a:bodyPr wrap="square">
            <a:spAutoFit/>
          </a:bodyPr>
          <a:lstStyle/>
          <a:p>
            <a:pPr algn="ctr"/>
            <a:r>
              <a:rPr sz="3400" b="1" i="0">
                <a:solidFill>
                  <a:srgbClr val="C4A45A"/>
                </a:solidFill>
                <a:latin typeface="Georgia"/>
              </a:rPr>
              <a:t>24 / 7</a:t>
            </a:r>
          </a:p>
        </p:txBody>
      </p:sp>
      <p:sp>
        <p:nvSpPr>
          <p:cNvPr id="24" name="TextBox 23"/>
          <p:cNvSpPr txBox="1"/>
          <p:nvPr/>
        </p:nvSpPr>
        <p:spPr>
          <a:xfrm>
            <a:off x="9491472" y="2523744"/>
            <a:ext cx="2505456" cy="320040"/>
          </a:xfrm>
          <a:prstGeom prst="rect">
            <a:avLst/>
          </a:prstGeom>
          <a:noFill/>
        </p:spPr>
        <p:txBody>
          <a:bodyPr wrap="square">
            <a:spAutoFit/>
          </a:bodyPr>
          <a:lstStyle/>
          <a:p>
            <a:pPr algn="ctr"/>
            <a:r>
              <a:rPr sz="950" b="1" i="0">
                <a:solidFill>
                  <a:srgbClr val="EAE6DE"/>
                </a:solidFill>
                <a:latin typeface="Calibri"/>
              </a:rPr>
              <a:t>AVAILABILITY</a:t>
            </a:r>
          </a:p>
        </p:txBody>
      </p:sp>
      <p:sp>
        <p:nvSpPr>
          <p:cNvPr id="25" name="TextBox 24"/>
          <p:cNvSpPr txBox="1"/>
          <p:nvPr/>
        </p:nvSpPr>
        <p:spPr>
          <a:xfrm>
            <a:off x="9491472" y="2871216"/>
            <a:ext cx="2505456" cy="658368"/>
          </a:xfrm>
          <a:prstGeom prst="rect">
            <a:avLst/>
          </a:prstGeom>
          <a:noFill/>
        </p:spPr>
        <p:txBody>
          <a:bodyPr wrap="square">
            <a:spAutoFit/>
          </a:bodyPr>
          <a:lstStyle/>
          <a:p>
            <a:pPr algn="ctr"/>
            <a:r>
              <a:rPr sz="1100" b="0" i="0">
                <a:solidFill>
                  <a:srgbClr val="8A877F"/>
                </a:solidFill>
                <a:latin typeface="Calibri"/>
              </a:rPr>
              <a:t>While your team focuses on clinic</a:t>
            </a:r>
          </a:p>
        </p:txBody>
      </p:sp>
      <p:sp>
        <p:nvSpPr>
          <p:cNvPr id="26" name="Rectangle 25"/>
          <p:cNvSpPr/>
          <p:nvPr/>
        </p:nvSpPr>
        <p:spPr>
          <a:xfrm>
            <a:off x="411480" y="4005072"/>
            <a:ext cx="11365992" cy="2286000"/>
          </a:xfrm>
          <a:prstGeom prst="rect">
            <a:avLst/>
          </a:prstGeom>
          <a:solidFill>
            <a:srgbClr val="1A1C17"/>
          </a:solidFill>
          <a:ln w="9525">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05072"/>
            <a:ext cx="54864" cy="2286000"/>
          </a:xfrm>
          <a:prstGeom prst="rect">
            <a:avLst/>
          </a:prstGeom>
          <a:solidFill>
            <a:srgbClr val="6B9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087368"/>
            <a:ext cx="10972800" cy="292608"/>
          </a:xfrm>
          <a:prstGeom prst="rect">
            <a:avLst/>
          </a:prstGeom>
          <a:noFill/>
        </p:spPr>
        <p:txBody>
          <a:bodyPr wrap="square">
            <a:spAutoFit/>
          </a:bodyPr>
          <a:lstStyle/>
          <a:p>
            <a:pPr algn="l"/>
            <a:r>
              <a:rPr sz="950" b="1" i="0">
                <a:solidFill>
                  <a:srgbClr val="6B9E72"/>
                </a:solidFill>
                <a:latin typeface="Calibri"/>
              </a:rPr>
              <a:t>R O I   I L L U S T R A T I O N   —   L D C   A E S T H E T I C S</a:t>
            </a:r>
          </a:p>
        </p:txBody>
      </p:sp>
      <p:sp>
        <p:nvSpPr>
          <p:cNvPr id="29" name="TextBox 28"/>
          <p:cNvSpPr txBox="1"/>
          <p:nvPr/>
        </p:nvSpPr>
        <p:spPr>
          <a:xfrm>
            <a:off x="640080" y="4462272"/>
            <a:ext cx="10972800" cy="384048"/>
          </a:xfrm>
          <a:prstGeom prst="rect">
            <a:avLst/>
          </a:prstGeom>
          <a:noFill/>
        </p:spPr>
        <p:txBody>
          <a:bodyPr wrap="square">
            <a:spAutoFit/>
          </a:bodyPr>
          <a:lstStyle/>
          <a:p>
            <a:pPr algn="l"/>
            <a:r>
              <a:rPr sz="1250" b="0" i="0">
                <a:solidFill>
                  <a:srgbClr val="EAE6DE"/>
                </a:solidFill>
                <a:latin typeface="Calibri"/>
              </a:rPr>
              <a:t>40 aesthetics enquiries per month  ×  30% conversion  =  12 new consultations booked by Ava</a:t>
            </a:r>
          </a:p>
        </p:txBody>
      </p:sp>
      <p:sp>
        <p:nvSpPr>
          <p:cNvPr id="30" name="TextBox 29"/>
          <p:cNvSpPr txBox="1"/>
          <p:nvPr/>
        </p:nvSpPr>
        <p:spPr>
          <a:xfrm>
            <a:off x="640080" y="4901183"/>
            <a:ext cx="10972800" cy="384048"/>
          </a:xfrm>
          <a:prstGeom prst="rect">
            <a:avLst/>
          </a:prstGeom>
          <a:noFill/>
        </p:spPr>
        <p:txBody>
          <a:bodyPr wrap="square">
            <a:spAutoFit/>
          </a:bodyPr>
          <a:lstStyle/>
          <a:p>
            <a:pPr algn="l"/>
            <a:r>
              <a:rPr sz="1250" b="0" i="0">
                <a:solidFill>
                  <a:srgbClr val="EAE6DE"/>
                </a:solidFill>
                <a:latin typeface="Calibri"/>
              </a:rPr>
              <a:t>12 consultations  ×  average treatment value £750 (Fraxel / fillers / PDO)  =  £9,000 additional monthly revenue</a:t>
            </a:r>
          </a:p>
        </p:txBody>
      </p:sp>
      <p:sp>
        <p:nvSpPr>
          <p:cNvPr id="31" name="TextBox 30"/>
          <p:cNvSpPr txBox="1"/>
          <p:nvPr/>
        </p:nvSpPr>
        <p:spPr>
          <a:xfrm>
            <a:off x="640080" y="5340096"/>
            <a:ext cx="10972800" cy="384048"/>
          </a:xfrm>
          <a:prstGeom prst="rect">
            <a:avLst/>
          </a:prstGeom>
          <a:noFill/>
        </p:spPr>
        <p:txBody>
          <a:bodyPr wrap="square">
            <a:spAutoFit/>
          </a:bodyPr>
          <a:lstStyle/>
          <a:p>
            <a:pPr algn="l"/>
            <a:r>
              <a:rPr sz="1250" b="1" i="1">
                <a:solidFill>
                  <a:srgbClr val="E2CFA0"/>
                </a:solidFill>
                <a:latin typeface="Calibri"/>
              </a:rPr>
              <a:t>Annual uplift: £108,000  ·  Ava's total annual running cost: under £1,500</a:t>
            </a:r>
          </a:p>
        </p:txBody>
      </p:sp>
      <p:sp>
        <p:nvSpPr>
          <p:cNvPr id="32" name="TextBox 31"/>
          <p:cNvSpPr txBox="1"/>
          <p:nvPr/>
        </p:nvSpPr>
        <p:spPr>
          <a:xfrm>
            <a:off x="640080" y="5779008"/>
            <a:ext cx="10972800" cy="384048"/>
          </a:xfrm>
          <a:prstGeom prst="rect">
            <a:avLst/>
          </a:prstGeom>
          <a:noFill/>
        </p:spPr>
        <p:txBody>
          <a:bodyPr wrap="square">
            <a:spAutoFit/>
          </a:bodyPr>
          <a:lstStyle/>
          <a:p>
            <a:pPr algn="l"/>
            <a:r>
              <a:rPr sz="1250" b="1" i="1">
                <a:solidFill>
                  <a:srgbClr val="E2CFA0"/>
                </a:solidFill>
                <a:latin typeface="Calibri"/>
              </a:rPr>
              <a:t>The system pays for itself with the first two bookings of the month.</a:t>
            </a:r>
          </a:p>
        </p:txBody>
      </p:sp>
      <p:sp>
        <p:nvSpPr>
          <p:cNvPr id="33" name="Rectangle 32"/>
          <p:cNvSpPr/>
          <p:nvPr/>
        </p:nvSpPr>
        <p:spPr>
          <a:xfrm>
            <a:off x="0" y="6565392"/>
            <a:ext cx="12188952" cy="292608"/>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6583680"/>
            <a:ext cx="11640312" cy="256032"/>
          </a:xfrm>
          <a:prstGeom prst="rect">
            <a:avLst/>
          </a:prstGeom>
          <a:noFill/>
        </p:spPr>
        <p:txBody>
          <a:bodyPr wrap="square">
            <a:spAutoFit/>
          </a:bodyPr>
          <a:lstStyle/>
          <a:p>
            <a:pPr algn="ctr"/>
            <a:r>
              <a:rPr sz="900" b="0" i="0">
                <a:solidFill>
                  <a:srgbClr val="8A877F"/>
                </a:solidFill>
                <a:latin typeface="Calibri"/>
              </a:rPr>
              <a:t>The London Dermatology Centre · Confidential commercial proposal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4A4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28431" y="0"/>
            <a:ext cx="4160520" cy="6858000"/>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32520" y="457200"/>
            <a:ext cx="2423160" cy="2423160"/>
          </a:xfrm>
          <a:prstGeom prst="ellipse">
            <a:avLst/>
          </a:prstGeom>
          <a:noFill/>
          <a:ln w="12700">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98280" y="822960"/>
            <a:ext cx="1691640" cy="1691640"/>
          </a:xfrm>
          <a:prstGeom prst="ellipse">
            <a:avLst/>
          </a:prstGeom>
          <a:noFill/>
          <a:ln w="1270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400032" y="1124712"/>
            <a:ext cx="1097280" cy="1097280"/>
          </a:xfrm>
          <a:prstGeom prst="ellipse">
            <a:avLst/>
          </a:prstGeom>
          <a:solidFill>
            <a:srgbClr val="1A1C17"/>
          </a:solidFill>
          <a:ln w="190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37192" y="1252728"/>
            <a:ext cx="822960" cy="822960"/>
          </a:xfrm>
          <a:prstGeom prst="rect">
            <a:avLst/>
          </a:prstGeom>
          <a:noFill/>
        </p:spPr>
        <p:txBody>
          <a:bodyPr wrap="square">
            <a:spAutoFit/>
          </a:bodyPr>
          <a:lstStyle/>
          <a:p>
            <a:pPr algn="ctr"/>
            <a:r>
              <a:rPr sz="3000" b="0" i="0">
                <a:solidFill>
                  <a:srgbClr val="EAE6DE"/>
                </a:solidFill>
                <a:latin typeface="Calibri"/>
              </a:rPr>
              <a:t>🏥</a:t>
            </a:r>
          </a:p>
        </p:txBody>
      </p:sp>
      <p:sp>
        <p:nvSpPr>
          <p:cNvPr id="9" name="TextBox 8"/>
          <p:cNvSpPr txBox="1"/>
          <p:nvPr/>
        </p:nvSpPr>
        <p:spPr>
          <a:xfrm>
            <a:off x="8211312" y="2852928"/>
            <a:ext cx="3794760" cy="457200"/>
          </a:xfrm>
          <a:prstGeom prst="rect">
            <a:avLst/>
          </a:prstGeom>
          <a:noFill/>
        </p:spPr>
        <p:txBody>
          <a:bodyPr wrap="square">
            <a:spAutoFit/>
          </a:bodyPr>
          <a:lstStyle/>
          <a:p>
            <a:pPr algn="ctr"/>
            <a:r>
              <a:rPr sz="1600" b="1" i="1">
                <a:solidFill>
                  <a:srgbClr val="C4A45A"/>
                </a:solidFill>
                <a:latin typeface="Georgia"/>
              </a:rPr>
              <a:t>Ready to discuss?</a:t>
            </a:r>
          </a:p>
        </p:txBody>
      </p:sp>
      <p:sp>
        <p:nvSpPr>
          <p:cNvPr id="10" name="TextBox 9"/>
          <p:cNvSpPr txBox="1"/>
          <p:nvPr/>
        </p:nvSpPr>
        <p:spPr>
          <a:xfrm>
            <a:off x="8211312" y="3401568"/>
            <a:ext cx="3794760" cy="658368"/>
          </a:xfrm>
          <a:prstGeom prst="rect">
            <a:avLst/>
          </a:prstGeom>
          <a:noFill/>
        </p:spPr>
        <p:txBody>
          <a:bodyPr wrap="square">
            <a:spAutoFit/>
          </a:bodyPr>
          <a:lstStyle/>
          <a:p>
            <a:pPr algn="ctr"/>
            <a:r>
              <a:rPr sz="1300" b="0" i="0">
                <a:solidFill>
                  <a:srgbClr val="EAE6DE"/>
                </a:solidFill>
                <a:latin typeface="Georgia"/>
              </a:rPr>
              <a:t>The London Dermatology
Centre</a:t>
            </a:r>
          </a:p>
        </p:txBody>
      </p:sp>
      <p:sp>
        <p:nvSpPr>
          <p:cNvPr id="11" name="TextBox 10"/>
          <p:cNvSpPr txBox="1"/>
          <p:nvPr/>
        </p:nvSpPr>
        <p:spPr>
          <a:xfrm>
            <a:off x="8211312" y="4151376"/>
            <a:ext cx="3794760" cy="347472"/>
          </a:xfrm>
          <a:prstGeom prst="rect">
            <a:avLst/>
          </a:prstGeom>
          <a:noFill/>
        </p:spPr>
        <p:txBody>
          <a:bodyPr wrap="square">
            <a:spAutoFit/>
          </a:bodyPr>
          <a:lstStyle/>
          <a:p>
            <a:pPr algn="ctr"/>
            <a:r>
              <a:rPr sz="1100" b="0" i="0">
                <a:solidFill>
                  <a:srgbClr val="8A877F"/>
                </a:solidFill>
                <a:latin typeface="Calibri"/>
              </a:rPr>
              <a:t>69 Wimpole St, London W1G 8AS</a:t>
            </a:r>
          </a:p>
        </p:txBody>
      </p:sp>
      <p:sp>
        <p:nvSpPr>
          <p:cNvPr id="12" name="TextBox 11"/>
          <p:cNvSpPr txBox="1"/>
          <p:nvPr/>
        </p:nvSpPr>
        <p:spPr>
          <a:xfrm>
            <a:off x="8211312" y="4553712"/>
            <a:ext cx="3794760" cy="384048"/>
          </a:xfrm>
          <a:prstGeom prst="rect">
            <a:avLst/>
          </a:prstGeom>
          <a:noFill/>
        </p:spPr>
        <p:txBody>
          <a:bodyPr wrap="square">
            <a:spAutoFit/>
          </a:bodyPr>
          <a:lstStyle/>
          <a:p>
            <a:pPr algn="ctr"/>
            <a:r>
              <a:rPr sz="1600" b="1" i="0">
                <a:solidFill>
                  <a:srgbClr val="6B9E72"/>
                </a:solidFill>
                <a:latin typeface="Calibri"/>
              </a:rPr>
              <a:t>020 7467 3720</a:t>
            </a:r>
          </a:p>
        </p:txBody>
      </p:sp>
      <p:sp>
        <p:nvSpPr>
          <p:cNvPr id="13" name="TextBox 12"/>
          <p:cNvSpPr txBox="1"/>
          <p:nvPr/>
        </p:nvSpPr>
        <p:spPr>
          <a:xfrm>
            <a:off x="8211312" y="5010912"/>
            <a:ext cx="3794760" cy="320040"/>
          </a:xfrm>
          <a:prstGeom prst="rect">
            <a:avLst/>
          </a:prstGeom>
          <a:noFill/>
        </p:spPr>
        <p:txBody>
          <a:bodyPr wrap="square">
            <a:spAutoFit/>
          </a:bodyPr>
          <a:lstStyle/>
          <a:p>
            <a:pPr algn="ctr"/>
            <a:r>
              <a:rPr sz="950" b="0" i="0">
                <a:solidFill>
                  <a:srgbClr val="484540"/>
                </a:solidFill>
                <a:latin typeface="Calibri"/>
              </a:rPr>
              <a:t>reception@the-dermatology-centre.co.uk</a:t>
            </a:r>
          </a:p>
        </p:txBody>
      </p:sp>
      <p:sp>
        <p:nvSpPr>
          <p:cNvPr id="14" name="TextBox 13"/>
          <p:cNvSpPr txBox="1"/>
          <p:nvPr/>
        </p:nvSpPr>
        <p:spPr>
          <a:xfrm>
            <a:off x="8211312" y="5394960"/>
            <a:ext cx="3794760" cy="292608"/>
          </a:xfrm>
          <a:prstGeom prst="rect">
            <a:avLst/>
          </a:prstGeom>
          <a:noFill/>
        </p:spPr>
        <p:txBody>
          <a:bodyPr wrap="square">
            <a:spAutoFit/>
          </a:bodyPr>
          <a:lstStyle/>
          <a:p>
            <a:pPr algn="ctr"/>
            <a:r>
              <a:rPr sz="1000" b="0" i="0">
                <a:solidFill>
                  <a:srgbClr val="484540"/>
                </a:solidFill>
                <a:latin typeface="Calibri"/>
              </a:rPr>
              <a:t>Mon–Fri  ·  9:00 AM – 5:30 PM</a:t>
            </a:r>
          </a:p>
        </p:txBody>
      </p:sp>
      <p:sp>
        <p:nvSpPr>
          <p:cNvPr id="15" name="TextBox 14"/>
          <p:cNvSpPr txBox="1"/>
          <p:nvPr/>
        </p:nvSpPr>
        <p:spPr>
          <a:xfrm>
            <a:off x="502920" y="201168"/>
            <a:ext cx="9144000" cy="347472"/>
          </a:xfrm>
          <a:prstGeom prst="rect">
            <a:avLst/>
          </a:prstGeom>
          <a:noFill/>
        </p:spPr>
        <p:txBody>
          <a:bodyPr wrap="square">
            <a:spAutoFit/>
          </a:bodyPr>
          <a:lstStyle/>
          <a:p>
            <a:pPr algn="l"/>
            <a:r>
              <a:rPr sz="1100" b="1" i="0">
                <a:solidFill>
                  <a:srgbClr val="C4A45A"/>
                </a:solidFill>
                <a:latin typeface="Calibri"/>
              </a:rPr>
              <a:t>N E X T   S T E P S</a:t>
            </a:r>
          </a:p>
        </p:txBody>
      </p:sp>
      <p:sp>
        <p:nvSpPr>
          <p:cNvPr id="16" name="TextBox 15"/>
          <p:cNvSpPr txBox="1"/>
          <p:nvPr/>
        </p:nvSpPr>
        <p:spPr>
          <a:xfrm>
            <a:off x="502920" y="621792"/>
            <a:ext cx="7132320" cy="1325880"/>
          </a:xfrm>
          <a:prstGeom prst="rect">
            <a:avLst/>
          </a:prstGeom>
          <a:noFill/>
        </p:spPr>
        <p:txBody>
          <a:bodyPr wrap="square">
            <a:spAutoFit/>
          </a:bodyPr>
          <a:lstStyle/>
          <a:p>
            <a:pPr algn="l"/>
            <a:r>
              <a:rPr sz="3400" b="1" i="0">
                <a:solidFill>
                  <a:srgbClr val="FFFFFF"/>
                </a:solidFill>
                <a:latin typeface="Georgia"/>
              </a:rPr>
              <a:t>Live within days.
Zero disruption to your practice.</a:t>
            </a:r>
          </a:p>
        </p:txBody>
      </p:sp>
      <p:sp>
        <p:nvSpPr>
          <p:cNvPr id="17" name="Oval 16"/>
          <p:cNvSpPr/>
          <p:nvPr/>
        </p:nvSpPr>
        <p:spPr>
          <a:xfrm>
            <a:off x="502920" y="2423160"/>
            <a:ext cx="566928" cy="566928"/>
          </a:xfrm>
          <a:prstGeom prst="ellipse">
            <a:avLst/>
          </a:prstGeom>
          <a:solidFill>
            <a:srgbClr val="1A1C17"/>
          </a:solidFill>
          <a:ln w="190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441448"/>
            <a:ext cx="566928" cy="502920"/>
          </a:xfrm>
          <a:prstGeom prst="rect">
            <a:avLst/>
          </a:prstGeom>
          <a:noFill/>
        </p:spPr>
        <p:txBody>
          <a:bodyPr wrap="square">
            <a:spAutoFit/>
          </a:bodyPr>
          <a:lstStyle/>
          <a:p>
            <a:pPr algn="ctr"/>
            <a:r>
              <a:rPr sz="1800" b="1" i="0">
                <a:solidFill>
                  <a:srgbClr val="C4A45A"/>
                </a:solidFill>
                <a:latin typeface="Georgia"/>
              </a:rPr>
              <a:t>1</a:t>
            </a:r>
          </a:p>
        </p:txBody>
      </p:sp>
      <p:sp>
        <p:nvSpPr>
          <p:cNvPr id="19" name="TextBox 18"/>
          <p:cNvSpPr txBox="1"/>
          <p:nvPr/>
        </p:nvSpPr>
        <p:spPr>
          <a:xfrm>
            <a:off x="1234440" y="2331720"/>
            <a:ext cx="6583680" cy="685800"/>
          </a:xfrm>
          <a:prstGeom prst="rect">
            <a:avLst/>
          </a:prstGeom>
          <a:noFill/>
        </p:spPr>
        <p:txBody>
          <a:bodyPr wrap="square">
            <a:spAutoFit/>
          </a:bodyPr>
          <a:lstStyle/>
          <a:p>
            <a:pPr algn="l"/>
            <a:r>
              <a:rPr sz="1450" b="0" i="0">
                <a:solidFill>
                  <a:srgbClr val="EAE6DE"/>
                </a:solidFill>
                <a:latin typeface="Calibri"/>
              </a:rPr>
              <a:t>Share your Vapi access, Semble setup, and treatment pricing</a:t>
            </a:r>
          </a:p>
        </p:txBody>
      </p:sp>
      <p:sp>
        <p:nvSpPr>
          <p:cNvPr id="20" name="Oval 19"/>
          <p:cNvSpPr/>
          <p:nvPr/>
        </p:nvSpPr>
        <p:spPr>
          <a:xfrm>
            <a:off x="502920" y="3319272"/>
            <a:ext cx="566928" cy="566928"/>
          </a:xfrm>
          <a:prstGeom prst="ellipse">
            <a:avLst/>
          </a:prstGeom>
          <a:solidFill>
            <a:srgbClr val="1A1C17"/>
          </a:solidFill>
          <a:ln w="190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337560"/>
            <a:ext cx="566928" cy="502920"/>
          </a:xfrm>
          <a:prstGeom prst="rect">
            <a:avLst/>
          </a:prstGeom>
          <a:noFill/>
        </p:spPr>
        <p:txBody>
          <a:bodyPr wrap="square">
            <a:spAutoFit/>
          </a:bodyPr>
          <a:lstStyle/>
          <a:p>
            <a:pPr algn="ctr"/>
            <a:r>
              <a:rPr sz="1800" b="1" i="0">
                <a:solidFill>
                  <a:srgbClr val="C4A45A"/>
                </a:solidFill>
                <a:latin typeface="Georgia"/>
              </a:rPr>
              <a:t>2</a:t>
            </a:r>
          </a:p>
        </p:txBody>
      </p:sp>
      <p:sp>
        <p:nvSpPr>
          <p:cNvPr id="22" name="TextBox 21"/>
          <p:cNvSpPr txBox="1"/>
          <p:nvPr/>
        </p:nvSpPr>
        <p:spPr>
          <a:xfrm>
            <a:off x="1234440" y="3227832"/>
            <a:ext cx="6583680" cy="685800"/>
          </a:xfrm>
          <a:prstGeom prst="rect">
            <a:avLst/>
          </a:prstGeom>
          <a:noFill/>
        </p:spPr>
        <p:txBody>
          <a:bodyPr wrap="square">
            <a:spAutoFit/>
          </a:bodyPr>
          <a:lstStyle/>
          <a:p>
            <a:pPr algn="l"/>
            <a:r>
              <a:rPr sz="1450" b="0" i="0">
                <a:solidFill>
                  <a:srgbClr val="EAE6DE"/>
                </a:solidFill>
                <a:latin typeface="Calibri"/>
              </a:rPr>
              <a:t>We configure Ava and test 10 sample calls with your team</a:t>
            </a:r>
          </a:p>
        </p:txBody>
      </p:sp>
      <p:sp>
        <p:nvSpPr>
          <p:cNvPr id="23" name="Oval 22"/>
          <p:cNvSpPr/>
          <p:nvPr/>
        </p:nvSpPr>
        <p:spPr>
          <a:xfrm>
            <a:off x="502920" y="4215383"/>
            <a:ext cx="566928" cy="566928"/>
          </a:xfrm>
          <a:prstGeom prst="ellipse">
            <a:avLst/>
          </a:prstGeom>
          <a:solidFill>
            <a:srgbClr val="1A1C17"/>
          </a:solidFill>
          <a:ln w="190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233672"/>
            <a:ext cx="566928" cy="502920"/>
          </a:xfrm>
          <a:prstGeom prst="rect">
            <a:avLst/>
          </a:prstGeom>
          <a:noFill/>
        </p:spPr>
        <p:txBody>
          <a:bodyPr wrap="square">
            <a:spAutoFit/>
          </a:bodyPr>
          <a:lstStyle/>
          <a:p>
            <a:pPr algn="ctr"/>
            <a:r>
              <a:rPr sz="1800" b="1" i="0">
                <a:solidFill>
                  <a:srgbClr val="C4A45A"/>
                </a:solidFill>
                <a:latin typeface="Georgia"/>
              </a:rPr>
              <a:t>3</a:t>
            </a:r>
          </a:p>
        </p:txBody>
      </p:sp>
      <p:sp>
        <p:nvSpPr>
          <p:cNvPr id="25" name="TextBox 24"/>
          <p:cNvSpPr txBox="1"/>
          <p:nvPr/>
        </p:nvSpPr>
        <p:spPr>
          <a:xfrm>
            <a:off x="1234440" y="4123944"/>
            <a:ext cx="6583680" cy="685800"/>
          </a:xfrm>
          <a:prstGeom prst="rect">
            <a:avLst/>
          </a:prstGeom>
          <a:noFill/>
        </p:spPr>
        <p:txBody>
          <a:bodyPr wrap="square">
            <a:spAutoFit/>
          </a:bodyPr>
          <a:lstStyle/>
          <a:p>
            <a:pPr algn="l"/>
            <a:r>
              <a:rPr sz="1450" b="0" i="0">
                <a:solidFill>
                  <a:srgbClr val="EAE6DE"/>
                </a:solidFill>
                <a:latin typeface="Calibri"/>
              </a:rPr>
              <a:t>Connect to your ad campaigns or website enquiry form</a:t>
            </a:r>
          </a:p>
        </p:txBody>
      </p:sp>
      <p:sp>
        <p:nvSpPr>
          <p:cNvPr id="26" name="Oval 25"/>
          <p:cNvSpPr/>
          <p:nvPr/>
        </p:nvSpPr>
        <p:spPr>
          <a:xfrm>
            <a:off x="502920" y="5111496"/>
            <a:ext cx="566928" cy="566928"/>
          </a:xfrm>
          <a:prstGeom prst="ellipse">
            <a:avLst/>
          </a:prstGeom>
          <a:solidFill>
            <a:srgbClr val="1A1C17"/>
          </a:solidFill>
          <a:ln w="19050">
            <a:solidFill>
              <a:srgbClr val="C4A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5129784"/>
            <a:ext cx="566928" cy="502920"/>
          </a:xfrm>
          <a:prstGeom prst="rect">
            <a:avLst/>
          </a:prstGeom>
          <a:noFill/>
        </p:spPr>
        <p:txBody>
          <a:bodyPr wrap="square">
            <a:spAutoFit/>
          </a:bodyPr>
          <a:lstStyle/>
          <a:p>
            <a:pPr algn="ctr"/>
            <a:r>
              <a:rPr sz="1800" b="1" i="0">
                <a:solidFill>
                  <a:srgbClr val="C4A45A"/>
                </a:solidFill>
                <a:latin typeface="Georgia"/>
              </a:rPr>
              <a:t>4</a:t>
            </a:r>
          </a:p>
        </p:txBody>
      </p:sp>
      <p:sp>
        <p:nvSpPr>
          <p:cNvPr id="28" name="TextBox 27"/>
          <p:cNvSpPr txBox="1"/>
          <p:nvPr/>
        </p:nvSpPr>
        <p:spPr>
          <a:xfrm>
            <a:off x="1234440" y="5020056"/>
            <a:ext cx="6583680" cy="685800"/>
          </a:xfrm>
          <a:prstGeom prst="rect">
            <a:avLst/>
          </a:prstGeom>
          <a:noFill/>
        </p:spPr>
        <p:txBody>
          <a:bodyPr wrap="square">
            <a:spAutoFit/>
          </a:bodyPr>
          <a:lstStyle/>
          <a:p>
            <a:pPr algn="l"/>
            <a:r>
              <a:rPr sz="1450" b="0" i="0">
                <a:solidFill>
                  <a:srgbClr val="EAE6DE"/>
                </a:solidFill>
                <a:latin typeface="Calibri"/>
              </a:rPr>
              <a:t>Ava goes live — your team gets a simple daily outcome report</a:t>
            </a:r>
          </a:p>
        </p:txBody>
      </p:sp>
      <p:sp>
        <p:nvSpPr>
          <p:cNvPr id="29" name="Rectangle 28"/>
          <p:cNvSpPr/>
          <p:nvPr/>
        </p:nvSpPr>
        <p:spPr>
          <a:xfrm>
            <a:off x="502920" y="6035040"/>
            <a:ext cx="7296912" cy="475488"/>
          </a:xfrm>
          <a:prstGeom prst="rect">
            <a:avLst/>
          </a:prstGeom>
          <a:solidFill>
            <a:srgbClr val="1A1C17"/>
          </a:solidFill>
          <a:ln w="9525">
            <a:solidFill>
              <a:srgbClr val="6B9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6080760"/>
            <a:ext cx="6995160" cy="365760"/>
          </a:xfrm>
          <a:prstGeom prst="rect">
            <a:avLst/>
          </a:prstGeom>
          <a:noFill/>
        </p:spPr>
        <p:txBody>
          <a:bodyPr wrap="square">
            <a:spAutoFit/>
          </a:bodyPr>
          <a:lstStyle/>
          <a:p>
            <a:pPr algn="l"/>
            <a:r>
              <a:rPr sz="1050" b="0" i="1">
                <a:solidFill>
                  <a:srgbClr val="A8C9AC"/>
                </a:solidFill>
                <a:latin typeface="Calibri"/>
              </a:rPr>
              <a:t>💬  Key questions to discuss: out-of-hours volume · Semble API access · current ad spend · enquiry conversion tracking</a:t>
            </a:r>
          </a:p>
        </p:txBody>
      </p:sp>
      <p:sp>
        <p:nvSpPr>
          <p:cNvPr id="31" name="Rectangle 30"/>
          <p:cNvSpPr/>
          <p:nvPr/>
        </p:nvSpPr>
        <p:spPr>
          <a:xfrm>
            <a:off x="0" y="6565392"/>
            <a:ext cx="12188952" cy="292608"/>
          </a:xfrm>
          <a:prstGeom prst="rect">
            <a:avLst/>
          </a:prstGeom>
          <a:solidFill>
            <a:srgbClr val="1A1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6583680"/>
            <a:ext cx="11640312" cy="256032"/>
          </a:xfrm>
          <a:prstGeom prst="rect">
            <a:avLst/>
          </a:prstGeom>
          <a:noFill/>
        </p:spPr>
        <p:txBody>
          <a:bodyPr wrap="square">
            <a:spAutoFit/>
          </a:bodyPr>
          <a:lstStyle/>
          <a:p>
            <a:pPr algn="ctr"/>
            <a:r>
              <a:rPr sz="900" b="0" i="0">
                <a:solidFill>
                  <a:srgbClr val="484540"/>
                </a:solidFill>
                <a:latin typeface="Calibri"/>
              </a:rPr>
              <a:t>Confidential · Prepared exclusively for The London Dermatology Centre ·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