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4050791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457200"/>
            <a:ext cx="2286000" cy="2286000"/>
          </a:xfrm>
          <a:prstGeom prst="ellipse">
            <a:avLst/>
          </a:prstGeom>
          <a:noFill/>
          <a:ln w="12700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0" y="822960"/>
            <a:ext cx="1554480" cy="1554480"/>
          </a:xfrm>
          <a:prstGeom prst="ellipse">
            <a:avLst/>
          </a:prstGeom>
          <a:noFill/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1143000"/>
            <a:ext cx="914400" cy="914400"/>
          </a:xfrm>
          <a:prstGeom prst="ellipse">
            <a:avLst/>
          </a:prstGeom>
          <a:solidFill>
            <a:srgbClr val="1C1E19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2618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8D5B0"/>
                </a:solidFill>
                <a:latin typeface="Calibri"/>
              </a:rPr>
              <a:t>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880360"/>
            <a:ext cx="3566160" cy="914400"/>
          </a:xfrm>
          <a:prstGeom prst="rect">
            <a:avLst/>
          </a:prstGeom>
          <a:solidFill>
            <a:srgbClr val="161713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935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96E"/>
                </a:solidFill>
                <a:latin typeface="Georgia"/>
              </a:rPr>
              <a:t>25–35%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832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680"/>
                </a:solidFill>
                <a:latin typeface="Calibri"/>
              </a:rPr>
              <a:t>Lead-to-booking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977639"/>
            <a:ext cx="3566160" cy="914400"/>
          </a:xfrm>
          <a:prstGeom prst="rect">
            <a:avLst/>
          </a:prstGeom>
          <a:solidFill>
            <a:srgbClr val="161713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032503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96E"/>
                </a:solidFill>
                <a:latin typeface="Georgia"/>
              </a:rPr>
              <a:t>&lt; 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48055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680"/>
                </a:solidFill>
                <a:latin typeface="Calibri"/>
              </a:rPr>
              <a:t>Response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5074920"/>
            <a:ext cx="3566160" cy="914400"/>
          </a:xfrm>
          <a:prstGeom prst="rect">
            <a:avLst/>
          </a:prstGeom>
          <a:solidFill>
            <a:srgbClr val="161713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5129783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96E"/>
                </a:solidFill>
                <a:latin typeface="Georgia"/>
              </a:rPr>
              <a:t>24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577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680"/>
                </a:solidFill>
                <a:latin typeface="Calibri"/>
              </a:rPr>
              <a:t>Always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96E"/>
                </a:solidFill>
                <a:latin typeface="Calibri"/>
              </a:rPr>
              <a:t>I N T R O D U C I N 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914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1">
                <a:solidFill>
                  <a:srgbClr val="FFFFFF"/>
                </a:solidFill>
                <a:latin typeface="Georgia"/>
              </a:rPr>
              <a:t>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8CAB9"/>
                </a:solidFill>
                <a:latin typeface="Georgia"/>
              </a:rPr>
              <a:t>AI Concierge for</a:t>
            </a:r>
          </a:p>
          <a:p>
            <a:pPr algn="l"/>
            <a:r>
              <a:rPr sz="2200" b="0" i="0">
                <a:solidFill>
                  <a:srgbClr val="B8CAB9"/>
                </a:solidFill>
                <a:latin typeface="Georgia"/>
              </a:rPr>
              <a:t>The London Dermatology Centre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680"/>
                </a:solidFill>
                <a:latin typeface="Calibri"/>
              </a:rPr>
              <a:t>An intelligent, always-on receptionist that converts your ad leads into booked consultations — automatically, warmly, and within seconds.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4845"/>
                </a:solidFill>
                <a:latin typeface="Calibri"/>
              </a:rPr>
              <a:t>69 Wimpole St, London W1G 8AS  ·  020 7467 3720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96E"/>
                </a:solidFill>
                <a:latin typeface="Calibri"/>
              </a:rPr>
              <a:t>T H E   C H A L L E N G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What happens to your ad leads today?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577840" cy="1920240"/>
          </a:xfrm>
          <a:prstGeom prst="rect">
            <a:avLst/>
          </a:prstGeom>
          <a:solidFill>
            <a:srgbClr val="1C1E19"/>
          </a:solidFill>
          <a:ln w="63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64008" cy="19202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D5B0"/>
                </a:solidFill>
                <a:latin typeface="Calibri"/>
              </a:rP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4DC"/>
                </a:solidFill>
                <a:latin typeface="Calibri"/>
              </a:rPr>
              <a:t>Slow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5230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680"/>
                </a:solidFill>
                <a:latin typeface="Calibri"/>
              </a:rPr>
              <a:t>Leads contacted hours or days later — by then they've booked elsewhere.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577840" cy="1920240"/>
          </a:xfrm>
          <a:prstGeom prst="rect">
            <a:avLst/>
          </a:prstGeom>
          <a:solidFill>
            <a:srgbClr val="1C1E19"/>
          </a:solidFill>
          <a:ln w="63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64008" cy="19202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D5B0"/>
                </a:solidFill>
                <a:latin typeface="Calibr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4DC"/>
                </a:solidFill>
                <a:latin typeface="Calibri"/>
              </a:rPr>
              <a:t>Staff time wasted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5230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680"/>
                </a:solidFill>
                <a:latin typeface="Calibri"/>
              </a:rPr>
              <a:t>Receptionists spend hours chasing cold leads instead of caring for patients.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5577840" cy="1920240"/>
          </a:xfrm>
          <a:prstGeom prst="rect">
            <a:avLst/>
          </a:prstGeom>
          <a:solidFill>
            <a:srgbClr val="1C1E19"/>
          </a:solidFill>
          <a:ln w="63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31920"/>
            <a:ext cx="64008" cy="19202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D5B0"/>
                </a:solidFill>
                <a:latin typeface="Calibri"/>
              </a:rPr>
              <a:t>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4DC"/>
                </a:solidFill>
                <a:latin typeface="Calibri"/>
              </a:rPr>
              <a:t>Inconsistent 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5230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680"/>
                </a:solidFill>
                <a:latin typeface="Calibri"/>
              </a:rPr>
              <a:t>Every call sounds different. No confidentiality protocol. No quality guarantee.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1C1E19"/>
          </a:solidFill>
          <a:ln w="63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64008" cy="19202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D5B0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4DC"/>
                </a:solidFill>
                <a:latin typeface="Calibri"/>
              </a:rPr>
              <a:t>No outcome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617720"/>
            <a:ext cx="52303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680"/>
                </a:solidFill>
                <a:latin typeface="Calibri"/>
              </a:rPr>
              <a:t>You don't know which ads converted, which leads were lost, or why. Zero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Ava solves every one of these problems —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A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9E7E"/>
                </a:solidFill>
                <a:latin typeface="Calibri"/>
              </a:rPr>
              <a:t>T H E   S O L U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Meet Ava — your AI practice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AB9"/>
                </a:solidFill>
                <a:latin typeface="Calibri"/>
              </a:rPr>
              <a:t>Ava is a warm, medically professional AI voice assistant trained specifically for The London Dermatology Centre. She answers in British English, knows your treatments, prices, and location — and sounds exactly like a senior Harley Street receptionist.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560320"/>
            <a:ext cx="1554480" cy="1554480"/>
          </a:xfrm>
          <a:prstGeom prst="ellipse">
            <a:avLst/>
          </a:prstGeom>
          <a:solidFill>
            <a:srgbClr val="1C1E19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Calls leads
instantly</a:t>
            </a:r>
          </a:p>
        </p:txBody>
      </p:sp>
      <p:sp>
        <p:nvSpPr>
          <p:cNvPr id="10" name="Oval 9"/>
          <p:cNvSpPr/>
          <p:nvPr/>
        </p:nvSpPr>
        <p:spPr>
          <a:xfrm>
            <a:off x="2788920" y="2560320"/>
            <a:ext cx="1554480" cy="1554480"/>
          </a:xfrm>
          <a:prstGeom prst="ellipse">
            <a:avLst/>
          </a:prstGeom>
          <a:solidFill>
            <a:srgbClr val="1C1E19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8346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Books
consultations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2560320"/>
            <a:ext cx="1554480" cy="1554480"/>
          </a:xfrm>
          <a:prstGeom prst="ellipse">
            <a:avLst/>
          </a:prstGeom>
          <a:solidFill>
            <a:srgbClr val="1C1E19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8346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Trained on
your clinic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2560320"/>
            <a:ext cx="1554480" cy="1554480"/>
          </a:xfrm>
          <a:prstGeom prst="ellipse">
            <a:avLst/>
          </a:prstGeom>
          <a:solidFill>
            <a:srgbClr val="1C1E19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8346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Zapier &amp;
Vapi powered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0" y="2560320"/>
            <a:ext cx="1554480" cy="1554480"/>
          </a:xfrm>
          <a:prstGeom prst="ellipse">
            <a:avLst/>
          </a:prstGeom>
          <a:solidFill>
            <a:srgbClr val="1C1E19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28346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Logs every
outcome to CRM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74920"/>
            <a:ext cx="11183112" cy="1097280"/>
          </a:xfrm>
          <a:prstGeom prst="rect">
            <a:avLst/>
          </a:prstGeom>
          <a:solidFill>
            <a:srgbClr val="1C1E19"/>
          </a:solidFill>
          <a:ln w="9525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64008" cy="1097280"/>
          </a:xfrm>
          <a:prstGeom prst="rect">
            <a:avLst/>
          </a:prstGeom>
          <a:solidFill>
            <a:srgbClr val="7A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66360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D5B0"/>
                </a:solidFill>
                <a:latin typeface="Georgia"/>
              </a:rPr>
              <a:t>"Hi Sarah, this is Ava from The London Dermatology Centre. Thank you for your interest in Botox — all conversations are completely confidential. Are you still looking to book a consultation with us?"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Warm. Professional. Confidential. Available 24/7.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96E"/>
                </a:solidFill>
                <a:latin typeface="Calibri"/>
              </a:rPr>
              <a:t>T H E   P R O C E S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From ad click to booked consultation in under 60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2651760" cy="420624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651760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057400"/>
            <a:ext cx="731520" cy="731520"/>
          </a:xfrm>
          <a:prstGeom prst="ellipse">
            <a:avLst/>
          </a:prstGeom>
          <a:solidFill>
            <a:srgbClr val="0E0F0D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084831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96E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E4DC"/>
                </a:solidFill>
                <a:latin typeface="Calibri"/>
              </a:rPr>
              <a:t>Patient Sees 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Facebook or Instagram ad drives interest. Patient clicks and fills in the lead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96E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28800"/>
            <a:ext cx="2651760" cy="4206240"/>
          </a:xfrm>
          <a:prstGeom prst="rect">
            <a:avLst/>
          </a:prstGeom>
          <a:solidFill>
            <a:srgbClr val="1C1E19"/>
          </a:solidFill>
          <a:ln w="9525">
            <a:solidFill>
              <a:srgbClr val="FF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828800"/>
            <a:ext cx="2651760" cy="64008"/>
          </a:xfrm>
          <a:prstGeom prst="rect">
            <a:avLst/>
          </a:prstGeom>
          <a:solidFill>
            <a:srgbClr val="FF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2057400"/>
            <a:ext cx="731520" cy="731520"/>
          </a:xfrm>
          <a:prstGeom prst="ellipse">
            <a:avLst/>
          </a:prstGeom>
          <a:solidFill>
            <a:srgbClr val="0E0F0D"/>
          </a:solidFill>
          <a:ln w="19050">
            <a:solidFill>
              <a:srgbClr val="FF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84831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7A50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794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E4DC"/>
                </a:solidFill>
                <a:latin typeface="Calibri"/>
              </a:rPr>
              <a:t>Zapier Fires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Within seconds, Zapier catches the lead and sends it instantly to Vapi's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96E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828800"/>
            <a:ext cx="2651760" cy="4206240"/>
          </a:xfrm>
          <a:prstGeom prst="rect">
            <a:avLst/>
          </a:prstGeom>
          <a:solidFill>
            <a:srgbClr val="1C1E19"/>
          </a:solidFill>
          <a:ln w="9525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828800"/>
            <a:ext cx="2651760" cy="64008"/>
          </a:xfrm>
          <a:prstGeom prst="rect">
            <a:avLst/>
          </a:prstGeom>
          <a:solidFill>
            <a:srgbClr val="7A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06640" y="2057400"/>
            <a:ext cx="731520" cy="731520"/>
          </a:xfrm>
          <a:prstGeom prst="ellipse">
            <a:avLst/>
          </a:prstGeom>
          <a:solidFill>
            <a:srgbClr val="0E0F0D"/>
          </a:solidFill>
          <a:ln w="19050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084831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9E7E"/>
                </a:solidFill>
                <a:latin typeface="Georg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794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E4DC"/>
                </a:solidFill>
                <a:latin typeface="Calibri"/>
              </a:rPr>
              <a:t>Ava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Ava dials the patient, greets them by name, and guides them warmly toward booking.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96E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39" y="1828800"/>
            <a:ext cx="2651760" cy="420624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64039" y="1828800"/>
            <a:ext cx="2651760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24159" y="2057400"/>
            <a:ext cx="731520" cy="731520"/>
          </a:xfrm>
          <a:prstGeom prst="ellipse">
            <a:avLst/>
          </a:prstGeom>
          <a:solidFill>
            <a:srgbClr val="0E0F0D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59" y="2084831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96E"/>
                </a:solidFill>
                <a:latin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79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79" y="3794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E4DC"/>
                </a:solidFill>
                <a:latin typeface="Calibri"/>
              </a:rPr>
              <a:t>Consultation Booked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9" y="4343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Slot confirmed, SMS &amp; email sent. Call outcome logged automatically to your CRM.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Powered by Vapi AI voice technology · Automated via Zapier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A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9E7E"/>
                </a:solidFill>
                <a:latin typeface="Calibri"/>
              </a:rPr>
              <a:t>T H E   C O N V E R S A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How Ava handles every enquiry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760720" cy="768096"/>
          </a:xfrm>
          <a:prstGeom prst="rect">
            <a:avLst/>
          </a:prstGeom>
          <a:solidFill>
            <a:srgbClr val="1C1E19"/>
          </a:solidFill>
          <a:ln w="508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64008" cy="76809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1  GREETING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1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Introduces herself, states confidentiality, greets the patient by name and references their treatment interest.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33472"/>
            <a:ext cx="5760720" cy="768096"/>
          </a:xfrm>
          <a:prstGeom prst="rect">
            <a:avLst/>
          </a:prstGeom>
          <a:solidFill>
            <a:srgbClr val="1C1E19"/>
          </a:solidFill>
          <a:ln w="508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33472"/>
            <a:ext cx="64008" cy="76809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2  QUALIFY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Confirms interest, offers two specific appointment slots. Handles hesitant patients with empathy, not pressure.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29584"/>
            <a:ext cx="5760720" cy="768096"/>
          </a:xfrm>
          <a:prstGeom prst="rect">
            <a:avLst/>
          </a:prstGeom>
          <a:solidFill>
            <a:srgbClr val="1C1E19"/>
          </a:solidFill>
          <a:ln w="508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529584"/>
            <a:ext cx="64008" cy="76809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7530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3  HANDLE FAQs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770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Answers questions on cost, downtime, procedure, location and pain. Defers clinical questions to the specialist.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25696"/>
            <a:ext cx="5760720" cy="768096"/>
          </a:xfrm>
          <a:prstGeom prst="rect">
            <a:avLst/>
          </a:prstGeom>
          <a:solidFill>
            <a:srgbClr val="1C1E19"/>
          </a:solidFill>
          <a:ln w="508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425696"/>
            <a:ext cx="64008" cy="76809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714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4  CLOSE &amp;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731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Confirms slot, tells patient to expect SMS &amp; email confirmation. Delivers the LDC closing script.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321808"/>
            <a:ext cx="5760720" cy="768096"/>
          </a:xfrm>
          <a:prstGeom prst="rect">
            <a:avLst/>
          </a:prstGeom>
          <a:solidFill>
            <a:srgbClr val="1C1E19"/>
          </a:solidFill>
          <a:ln w="508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321808"/>
            <a:ext cx="64008" cy="76809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675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5 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669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If unanswered, leaves a professional voicemail. Flags for Zapier follow-up workflow automatically.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737360"/>
            <a:ext cx="5212080" cy="461772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D5B0"/>
                </a:solidFill>
                <a:latin typeface="Calibri"/>
              </a:rPr>
              <a:t>Sample Conversation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AVA: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587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4DC"/>
                </a:solidFill>
                <a:latin typeface="Calibri"/>
              </a:rPr>
              <a:t>Hi Sarah, Ava from The London Dermatology Centre — all confidential. Still interested in Botox?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CAB9"/>
                </a:solidFill>
                <a:latin typeface="Calibri"/>
              </a:rPr>
              <a:t>PATIENT: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364991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680"/>
                </a:solidFill>
                <a:latin typeface="Calibri"/>
              </a:rPr>
              <a:t>Yes, but I'm a bit nervous about the cost...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AVA: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422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4DC"/>
                </a:solidFill>
                <a:latin typeface="Calibri"/>
              </a:rPr>
              <a:t>Completely understandable. The consultation is free — treatment starts from £250. Shall I book Thursday 3PM?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CAB9"/>
                </a:solidFill>
                <a:latin typeface="Calibri"/>
              </a:rPr>
              <a:t>PATIENT: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9194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8680"/>
                </a:solidFill>
                <a:latin typeface="Calibri"/>
              </a:rPr>
              <a:t>Yes, that sounds perfect.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4406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AVA: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6967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4DC"/>
                </a:solidFill>
                <a:latin typeface="Calibri"/>
              </a:rPr>
              <a:t>Wonderful! Confirmed for Thursday 3PM. You'll receive an SMS shortly. Have a lovely day!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Medical privacy respected throughout · One question at a time, never pushy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96E"/>
                </a:solidFill>
                <a:latin typeface="Calibri"/>
              </a:rPr>
              <a:t>T H E   T E C H N O L O G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Three tools. One seamless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45920"/>
            <a:ext cx="3566160" cy="4572000"/>
          </a:xfrm>
          <a:prstGeom prst="rect">
            <a:avLst/>
          </a:prstGeom>
          <a:solidFill>
            <a:srgbClr val="1C1E19"/>
          </a:solidFill>
          <a:ln w="9525">
            <a:solidFill>
              <a:srgbClr val="42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45920"/>
            <a:ext cx="3566160" cy="73152"/>
          </a:xfrm>
          <a:prstGeom prst="rect">
            <a:avLst/>
          </a:prstGeom>
          <a:solidFill>
            <a:srgbClr val="42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1920240"/>
            <a:ext cx="914400" cy="914400"/>
          </a:xfrm>
          <a:prstGeom prst="ellipse">
            <a:avLst/>
          </a:prstGeom>
          <a:solidFill>
            <a:srgbClr val="0E0F0D"/>
          </a:solidFill>
          <a:ln w="12700">
            <a:solidFill>
              <a:srgbClr val="42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E4DC"/>
                </a:solidFill>
                <a:latin typeface="Calibri"/>
              </a:rPr>
              <a:t>Meta Lead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67B2"/>
                </a:solidFill>
                <a:latin typeface="Calibri"/>
              </a:rPr>
              <a:t>(or any lead source)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14215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Facebook &amp; Instagram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7258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63600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Pre-filled lead 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294375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Name, phone &amp; treatment captured instantly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645920"/>
            <a:ext cx="3566160" cy="4572000"/>
          </a:xfrm>
          <a:prstGeom prst="rect">
            <a:avLst/>
          </a:prstGeom>
          <a:solidFill>
            <a:srgbClr val="1C1E19"/>
          </a:solidFill>
          <a:ln w="9525">
            <a:solidFill>
              <a:srgbClr val="FF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645920"/>
            <a:ext cx="3566160" cy="73152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1920240"/>
            <a:ext cx="914400" cy="914400"/>
          </a:xfrm>
          <a:prstGeom prst="ellipse">
            <a:avLst/>
          </a:prstGeom>
          <a:solidFill>
            <a:srgbClr val="0E0F0D"/>
          </a:solidFill>
          <a:ln w="12700">
            <a:solidFill>
              <a:srgbClr val="FF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E4DC"/>
                </a:solidFill>
                <a:latin typeface="Calibri"/>
              </a:rPr>
              <a:t>Zapier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A00"/>
                </a:solidFill>
                <a:latin typeface="Calibri"/>
              </a:rPr>
              <a:t>Automation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14215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Catches every lead form 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67258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63600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Routes data to Vapi within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33095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294375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Logs call outcomes to Google Sheets / CRM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59" y="1645920"/>
            <a:ext cx="3566160" cy="457200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59" y="1645920"/>
            <a:ext cx="356616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39" y="1920240"/>
            <a:ext cx="914400" cy="914400"/>
          </a:xfrm>
          <a:prstGeom prst="ellipse">
            <a:avLst/>
          </a:prstGeom>
          <a:solidFill>
            <a:srgbClr val="0E0F0D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4DC"/>
                </a:solidFill>
                <a:latin typeface="Calibri"/>
              </a:rPr>
              <a:t>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E4DC"/>
                </a:solidFill>
                <a:latin typeface="Calibri"/>
              </a:rPr>
              <a:t>Vapi + Ava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A96E"/>
                </a:solidFill>
                <a:latin typeface="Calibri"/>
              </a:rPr>
              <a:t>AI Voice Concierge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014215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39776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Outbound AI voice call in British English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67258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4636007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Custom-trained on LDC treatments &amp; prices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533095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9E7E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5294375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680"/>
                </a:solidFill>
                <a:latin typeface="Calibri"/>
              </a:rPr>
              <a:t>Books, logs, and follows up — automatically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No-code setup · Integrates with your existing CRM · Live in days, not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A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9E7E"/>
                </a:solidFill>
                <a:latin typeface="Calibri"/>
              </a:rPr>
              <a:t>T H E   R E S U L T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What to expect once Ava is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651760" cy="214884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651760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Georgia"/>
              </a:rPr>
              <a:t>25–35%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4DC"/>
                </a:solidFill>
                <a:latin typeface="Calibri"/>
              </a:rPr>
              <a:t>CONVERSION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77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Lead to booked consultation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691640"/>
            <a:ext cx="2651760" cy="214884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91640"/>
            <a:ext cx="2651760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1051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Georgia"/>
              </a:rPr>
              <a:t>&lt; 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4203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4DC"/>
                </a:solidFill>
                <a:latin typeface="Calibri"/>
              </a:rPr>
              <a:t>RESPONSE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077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Form submit to Ava calling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691640"/>
            <a:ext cx="2651760" cy="214884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691640"/>
            <a:ext cx="2651760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1051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Georgia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54203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4DC"/>
                </a:solidFill>
                <a:latin typeface="Calibri"/>
              </a:rPr>
              <a:t>LEADS FOLLOWED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077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No lead ever goes unanswered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91640"/>
            <a:ext cx="2651760" cy="2148840"/>
          </a:xfrm>
          <a:prstGeom prst="rect">
            <a:avLst/>
          </a:prstGeom>
          <a:solidFill>
            <a:srgbClr val="1C1E19"/>
          </a:solidFill>
          <a:ln w="9525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691640"/>
            <a:ext cx="2651760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810512"/>
            <a:ext cx="24688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96E"/>
                </a:solidFill>
                <a:latin typeface="Georgia"/>
              </a:rPr>
              <a:t>24 /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54203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4DC"/>
                </a:solidFill>
                <a:latin typeface="Calibri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9077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Evenings, weekends, holidays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160520"/>
            <a:ext cx="11365992" cy="2103120"/>
          </a:xfrm>
          <a:prstGeom prst="rect">
            <a:avLst/>
          </a:prstGeom>
          <a:solidFill>
            <a:srgbClr val="1C1E19"/>
          </a:solidFill>
          <a:ln w="9525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160520"/>
            <a:ext cx="64008" cy="2103120"/>
          </a:xfrm>
          <a:prstGeom prst="rect">
            <a:avLst/>
          </a:prstGeom>
          <a:solidFill>
            <a:srgbClr val="7A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7E"/>
                </a:solidFill>
                <a:latin typeface="Calibri"/>
              </a:rPr>
              <a:t>R O I   E X A M P L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663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DC"/>
                </a:solidFill>
                <a:latin typeface="Calibri"/>
              </a:rPr>
              <a:t>50 ad leads per month  ×  30% conversion  =  15 new consultations booked by Ava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38927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4DC"/>
                </a:solidFill>
                <a:latin typeface="Calibri"/>
              </a:rPr>
              <a:t>15 consultations  ×  average treatment value £600  =  £9,000 additional monthly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1441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E8D5B0"/>
                </a:solidFill>
                <a:latin typeface="Calibri"/>
              </a:rPr>
              <a:t>Ava operates for a fraction of that cost — and never takes a day off.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The London Dermatology Centre · Confidential commercial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2377440" cy="2377440"/>
          </a:xfrm>
          <a:prstGeom prst="ellipse">
            <a:avLst/>
          </a:prstGeom>
          <a:noFill/>
          <a:ln w="12700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822960"/>
            <a:ext cx="1645920" cy="1645920"/>
          </a:xfrm>
          <a:prstGeom prst="ellipse">
            <a:avLst/>
          </a:prstGeom>
          <a:noFill/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1097280"/>
            <a:ext cx="1097280" cy="1097280"/>
          </a:xfrm>
          <a:prstGeom prst="ellipse">
            <a:avLst/>
          </a:prstGeom>
          <a:solidFill>
            <a:srgbClr val="1C1E19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12344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E4DC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34640"/>
            <a:ext cx="3959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C9A96E"/>
                </a:solidFill>
                <a:latin typeface="Georgia"/>
              </a:rPr>
              <a:t>Ready to go live?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429000"/>
            <a:ext cx="3959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4DC"/>
                </a:solidFill>
                <a:latin typeface="Georgia"/>
              </a:rPr>
              <a:t>The London Dermatology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023360"/>
            <a:ext cx="3959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680"/>
                </a:solidFill>
                <a:latin typeface="Calibri"/>
              </a:rPr>
              <a:t>69 Wimpole St, London W1G 8AS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434840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A9E7E"/>
                </a:solidFill>
                <a:latin typeface="Calibri"/>
              </a:rPr>
              <a:t>020 7467 3720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919472"/>
            <a:ext cx="3959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845"/>
                </a:solidFill>
                <a:latin typeface="Calibri"/>
              </a:rPr>
              <a:t>Mon–Fri  ·  9:00 AM – 5:30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96E"/>
                </a:solidFill>
                <a:latin typeface="Calibri"/>
              </a:rPr>
              <a:t>N E X T   S T E P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1792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We can have Ava live
within days.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404872"/>
            <a:ext cx="566928" cy="566928"/>
          </a:xfrm>
          <a:prstGeom prst="ellipse">
            <a:avLst/>
          </a:prstGeom>
          <a:solidFill>
            <a:srgbClr val="1C1E19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96E"/>
                </a:solidFill>
                <a:latin typeface="Georg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33172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4DC"/>
                </a:solidFill>
                <a:latin typeface="Calibri"/>
              </a:rPr>
              <a:t>Review this proposal and the live demo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19272"/>
            <a:ext cx="566928" cy="566928"/>
          </a:xfrm>
          <a:prstGeom prst="ellipse">
            <a:avLst/>
          </a:prstGeom>
          <a:solidFill>
            <a:srgbClr val="1C1E19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3756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96E"/>
                </a:solidFill>
                <a:latin typeface="Georg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24612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4DC"/>
                </a:solidFill>
                <a:latin typeface="Calibri"/>
              </a:rPr>
              <a:t>Share your Vapi account access &amp; clinic details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233672"/>
            <a:ext cx="566928" cy="566928"/>
          </a:xfrm>
          <a:prstGeom prst="ellipse">
            <a:avLst/>
          </a:prstGeom>
          <a:solidFill>
            <a:srgbClr val="1C1E19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51959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96E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6052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4DC"/>
                </a:solidFill>
                <a:latin typeface="Calibri"/>
              </a:rPr>
              <a:t>We configure and test Ava end-to-end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5148072"/>
            <a:ext cx="566928" cy="566928"/>
          </a:xfrm>
          <a:prstGeom prst="ellipse">
            <a:avLst/>
          </a:prstGeom>
          <a:solidFill>
            <a:srgbClr val="1C1E19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166359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96E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74920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4DC"/>
                </a:solidFill>
                <a:latin typeface="Calibri"/>
              </a:rPr>
              <a:t>Connect to your ad campaigns — Ava goes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053328"/>
            <a:ext cx="7132320" cy="457200"/>
          </a:xfrm>
          <a:prstGeom prst="rect">
            <a:avLst/>
          </a:prstGeom>
          <a:solidFill>
            <a:srgbClr val="1C1E19"/>
          </a:solidFill>
          <a:ln w="9525">
            <a:solidFill>
              <a:srgbClr val="7A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10819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AB9"/>
                </a:solidFill>
                <a:latin typeface="Calibri"/>
              </a:rPr>
              <a:t>📞  A live interactive demo is ready for your review — ask for the link.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C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660"/>
                </a:solidFill>
                <a:latin typeface="Calibri"/>
              </a:rPr>
              <a:t>Confidential · Prepared exclusively for The London Dermatology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